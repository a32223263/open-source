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2" r:id="rId3"/>
    <p:sldId id="257" r:id="rId4"/>
    <p:sldId id="280" r:id="rId5"/>
    <p:sldId id="264" r:id="rId6"/>
    <p:sldId id="265" r:id="rId7"/>
    <p:sldId id="272" r:id="rId8"/>
    <p:sldId id="273" r:id="rId9"/>
    <p:sldId id="274" r:id="rId10"/>
    <p:sldId id="275" r:id="rId11"/>
    <p:sldId id="276" r:id="rId12"/>
    <p:sldId id="277" r:id="rId13"/>
    <p:sldId id="279" r:id="rId14"/>
    <p:sldId id="259" r:id="rId15"/>
    <p:sldId id="267" r:id="rId16"/>
    <p:sldId id="266" r:id="rId17"/>
    <p:sldId id="268" r:id="rId18"/>
    <p:sldId id="269" r:id="rId19"/>
    <p:sldId id="270" r:id="rId20"/>
    <p:sldId id="271" r:id="rId21"/>
    <p:sldId id="258" r:id="rId22"/>
  </p:sldIdLst>
  <p:sldSz cx="18288000" cy="10287000"/>
  <p:notesSz cx="6858000" cy="9144000"/>
  <p:embeddedFontLst>
    <p:embeddedFont>
      <p:font typeface="esamanru OTF Bold" panose="020B0600000101010101" charset="-127"/>
      <p:bold r:id="rId23"/>
    </p:embeddedFont>
    <p:embeddedFont>
      <p:font typeface="esamanru OTF Medium" panose="020B0600000101010101" charset="-127"/>
      <p:bold r:id="rId24"/>
    </p:embeddedFont>
    <p:embeddedFont>
      <p:font typeface="Pretendard Bold" panose="020B0600000101010101" charset="-127"/>
      <p:bold r:id="rId25"/>
    </p:embeddedFont>
    <p:embeddedFont>
      <p:font typeface="Pretendard ExtraBold" panose="020B0600000101010101" charset="-127"/>
      <p:bold r:id="rId26"/>
    </p:embeddedFont>
    <p:embeddedFont>
      <p:font typeface="Pretendard Medium" panose="020B0600000101010101" charset="-127"/>
      <p:bold r:id="rId27"/>
    </p:embeddedFont>
    <p:embeddedFont>
      <p:font typeface="Pretendard Regular" panose="020B0600000101010101" charset="-127"/>
      <p:regular r:id="rId28"/>
    </p:embeddedFont>
    <p:embeddedFont>
      <p:font typeface="Pretendard SemiBold" panose="020B0600000101010101" charset="-127"/>
      <p:bold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59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5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4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data.kma.go.kr/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hyperlink" Target="https://getbootstrap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hyperlink" Target="https://flask.palletsprojects.com/" TargetMode="External"/><Relationship Id="rId5" Type="http://schemas.openxmlformats.org/officeDocument/2006/relationships/image" Target="../media/image4.png"/><Relationship Id="rId10" Type="http://schemas.openxmlformats.org/officeDocument/2006/relationships/hyperlink" Target="https://apihub.kma.go.kr/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radar.kma.go.kr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B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469900"/>
            <a:ext cx="17335500" cy="933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3800" y="571500"/>
            <a:ext cx="152400" cy="152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800" y="825500"/>
            <a:ext cx="16675100" cy="8674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5100" y="8166100"/>
            <a:ext cx="154305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383000" y="6616700"/>
            <a:ext cx="114300" cy="114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383000" y="3556000"/>
            <a:ext cx="114300" cy="114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0700" y="6616700"/>
            <a:ext cx="114300" cy="114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0700" y="3556000"/>
            <a:ext cx="114300" cy="114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1687" y="6769100"/>
            <a:ext cx="10236200" cy="8128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3500037" y="3708187"/>
            <a:ext cx="11239500" cy="2578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8729"/>
              </a:lnSpc>
            </a:pPr>
            <a:r>
              <a:rPr lang="ko-KR" altLang="en-US" sz="14500" b="0" i="0" u="none" strike="noStrike" dirty="0">
                <a:solidFill>
                  <a:srgbClr val="715130"/>
                </a:solidFill>
                <a:ea typeface="esamanru OTF Bold"/>
              </a:rPr>
              <a:t>서울 기상분석</a:t>
            </a:r>
            <a:endParaRPr lang="ko-KR" sz="14500" b="0" i="0" u="none" strike="noStrike" dirty="0">
              <a:solidFill>
                <a:srgbClr val="715130"/>
              </a:solidFill>
              <a:ea typeface="esamanru OTF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5201718" y="2139950"/>
            <a:ext cx="7620000" cy="195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8729"/>
              </a:lnSpc>
            </a:pPr>
            <a:r>
              <a:rPr lang="en-US" altLang="ko-KR" sz="11000" b="0" i="0" u="none" strike="noStrike" spc="-100" dirty="0">
                <a:solidFill>
                  <a:srgbClr val="B0966E"/>
                </a:solidFill>
                <a:ea typeface="esamanru OTF Medium"/>
              </a:rPr>
              <a:t>KMA-LIVE</a:t>
            </a:r>
            <a:endParaRPr lang="ko-KR" sz="11000" b="0" i="0" u="none" strike="noStrike" spc="-100" dirty="0">
              <a:solidFill>
                <a:srgbClr val="B0966E"/>
              </a:solidFill>
              <a:ea typeface="esamanru OTF Medium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800600" y="6919482"/>
            <a:ext cx="86995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8729"/>
              </a:lnSpc>
            </a:pPr>
            <a:r>
              <a:rPr lang="en-US" altLang="ko-KR" sz="2800" spc="100" dirty="0">
                <a:solidFill>
                  <a:srgbClr val="715130"/>
                </a:solidFill>
                <a:ea typeface="Pretendard Bold"/>
              </a:rPr>
              <a:t>3</a:t>
            </a:r>
            <a:r>
              <a:rPr lang="ko-KR" altLang="en-US" sz="2800" spc="100" dirty="0">
                <a:solidFill>
                  <a:srgbClr val="715130"/>
                </a:solidFill>
                <a:ea typeface="Pretendard Bold"/>
              </a:rPr>
              <a:t>조 </a:t>
            </a:r>
            <a:r>
              <a:rPr lang="en-US" altLang="ko-KR" sz="2800" spc="100" dirty="0">
                <a:solidFill>
                  <a:srgbClr val="715130"/>
                </a:solidFill>
                <a:ea typeface="Pretendard Bold"/>
              </a:rPr>
              <a:t>(</a:t>
            </a:r>
            <a:r>
              <a:rPr lang="ko-KR" altLang="en-US" sz="2800" spc="100" dirty="0">
                <a:solidFill>
                  <a:srgbClr val="715130"/>
                </a:solidFill>
                <a:ea typeface="Pretendard Bold"/>
              </a:rPr>
              <a:t>이승규</a:t>
            </a:r>
            <a:r>
              <a:rPr lang="en-US" altLang="ko-KR" sz="2800" spc="100" dirty="0">
                <a:solidFill>
                  <a:srgbClr val="715130"/>
                </a:solidFill>
                <a:ea typeface="Pretendard Bold"/>
              </a:rPr>
              <a:t>,</a:t>
            </a:r>
            <a:r>
              <a:rPr lang="ko-KR" altLang="en-US" sz="2800" spc="100" dirty="0">
                <a:solidFill>
                  <a:srgbClr val="715130"/>
                </a:solidFill>
                <a:ea typeface="Pretendard Bold"/>
              </a:rPr>
              <a:t>박진현</a:t>
            </a:r>
            <a:r>
              <a:rPr lang="en-US" altLang="ko-KR" sz="2800" spc="100" dirty="0">
                <a:solidFill>
                  <a:srgbClr val="715130"/>
                </a:solidFill>
                <a:ea typeface="Pretendard Bold"/>
              </a:rPr>
              <a:t>,</a:t>
            </a:r>
            <a:r>
              <a:rPr lang="ko-KR" altLang="en-US" sz="2800" spc="100" dirty="0" err="1">
                <a:solidFill>
                  <a:srgbClr val="715130"/>
                </a:solidFill>
                <a:ea typeface="Pretendard Bold"/>
              </a:rPr>
              <a:t>강호현</a:t>
            </a:r>
            <a:r>
              <a:rPr lang="en-US" altLang="ko-KR" sz="2800" spc="100" dirty="0">
                <a:solidFill>
                  <a:srgbClr val="715130"/>
                </a:solidFill>
                <a:ea typeface="Pretendard Bold"/>
              </a:rPr>
              <a:t>,</a:t>
            </a:r>
            <a:r>
              <a:rPr lang="ko-KR" altLang="en-US" sz="2800" spc="100" dirty="0">
                <a:solidFill>
                  <a:srgbClr val="715130"/>
                </a:solidFill>
                <a:ea typeface="Pretendard Bold"/>
              </a:rPr>
              <a:t>최하랑</a:t>
            </a:r>
            <a:r>
              <a:rPr lang="en-US" altLang="ko-KR" sz="2800" spc="100" dirty="0">
                <a:solidFill>
                  <a:srgbClr val="715130"/>
                </a:solidFill>
                <a:ea typeface="Pretendard Bold"/>
              </a:rPr>
              <a:t>)</a:t>
            </a:r>
            <a:endParaRPr lang="ko-KR" sz="2800" b="0" i="0" u="none" strike="noStrike" spc="100" dirty="0">
              <a:solidFill>
                <a:srgbClr val="715130"/>
              </a:solidFill>
              <a:ea typeface="Pretendard Regula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B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3800" y="571500"/>
            <a:ext cx="152400" cy="152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50" y="806450"/>
            <a:ext cx="16675100" cy="8674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5100" y="2717800"/>
            <a:ext cx="15430500" cy="12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2744150" y="3778250"/>
            <a:ext cx="12915900" cy="184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28650"/>
              </a:lnSpc>
            </a:pP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현대 사회에서 </a:t>
            </a:r>
            <a:r>
              <a:rPr lang="ko-KR" altLang="ko-KR" sz="2400" b="1" dirty="0">
                <a:solidFill>
                  <a:schemeClr val="bg2">
                    <a:lumMod val="50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기상 정보는 단순한 환경적 변수가 아닌</a:t>
            </a:r>
            <a:r>
              <a:rPr lang="en-US" altLang="ko-KR" sz="2400" b="1" dirty="0">
                <a:solidFill>
                  <a:schemeClr val="bg2">
                    <a:lumMod val="50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ko-KR" sz="2400" b="1" dirty="0">
                <a:solidFill>
                  <a:schemeClr val="bg2">
                    <a:lumMod val="50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도시의 기능과 개인의 삶을 규정하는 핵심 데이터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로 자리 잡았다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기후 변화로 인한 국지성 호우와 급격한 기온 변화가 빈번해짐에 따라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기존의 광역 단위 예보 시스템은 개별 사용자의 구체적인 생활 패턴을 지원하는 데 한계를 드러내고 있다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특히 서울과 같은 고밀도 대도시에서는 자치구 단위의 미세한 날씨 차이가 출퇴근 시간대의 교통 혼잡도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개인의 복장 선택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야외 활동 가능 여부 등 실질적인 의사결정에 즉각적인 영향을 미친다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l">
              <a:lnSpc>
                <a:spcPct val="128650"/>
              </a:lnSpc>
            </a:pPr>
            <a:endParaRPr lang="en-US" sz="2400" b="0" i="0" u="none" strike="noStrike" dirty="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686050" y="6210300"/>
            <a:ext cx="12915900" cy="148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28650"/>
              </a:lnSpc>
            </a:pP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이러한 배경에서 본 프로젝트</a:t>
            </a:r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 KMA-Live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는 대한민국 기상청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(KMA)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이 제공하는 공공데이터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API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를 활용하여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ko-KR" sz="2400" b="1" dirty="0">
                <a:solidFill>
                  <a:schemeClr val="bg2">
                    <a:lumMod val="50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서울시</a:t>
            </a:r>
            <a:r>
              <a:rPr lang="en-US" altLang="ko-KR" sz="2400" b="1" dirty="0">
                <a:solidFill>
                  <a:schemeClr val="bg2">
                    <a:lumMod val="50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 25</a:t>
            </a:r>
            <a:r>
              <a:rPr lang="ko-KR" altLang="ko-KR" sz="2400" b="1" dirty="0">
                <a:solidFill>
                  <a:schemeClr val="bg2">
                    <a:lumMod val="50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개 자치구에 특화된 초정밀 날씨 정보를 웹 플랫폼을 통해 제공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하고자 기획되었다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기존의 날씨 서비스들이 방대한 데이터를 단순히 나열하거나 공급자 중심의 인터페이스를 유지해온 것과 달리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본 시스템은 사용자 경험을 최우선으로 고려하여 데이터의 시각화에 중점을 두었다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l">
              <a:lnSpc>
                <a:spcPct val="128650"/>
              </a:lnSpc>
            </a:pPr>
            <a:endParaRPr lang="en-US" sz="2400" b="0" i="0" u="none" strike="noStrike" dirty="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467100" y="1358900"/>
            <a:ext cx="113538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7000" dirty="0">
                <a:solidFill>
                  <a:srgbClr val="715130"/>
                </a:solidFill>
                <a:latin typeface="esamanru OTF Bold"/>
                <a:ea typeface="esamanru OTF Bold"/>
              </a:rPr>
              <a:t>프로젝트 </a:t>
            </a:r>
            <a:r>
              <a:rPr lang="ko-KR" altLang="en-US" sz="7000" b="0" i="0" u="none" strike="noStrike" dirty="0">
                <a:solidFill>
                  <a:srgbClr val="715130"/>
                </a:solidFill>
                <a:latin typeface="esamanru OTF Bold"/>
                <a:ea typeface="esamanru OTF Bold"/>
              </a:rPr>
              <a:t>배경</a:t>
            </a:r>
            <a:endParaRPr lang="ko-KR" sz="7000" b="0" i="0" u="none" strike="noStrike" dirty="0">
              <a:solidFill>
                <a:srgbClr val="715130"/>
              </a:solidFill>
              <a:ea typeface="esamanru OTF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350500" y="1041400"/>
            <a:ext cx="68453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08729"/>
              </a:lnSpc>
            </a:pPr>
            <a:endParaRPr lang="en-US" sz="1600" b="0" i="0" u="none" strike="noStrike" spc="100" dirty="0">
              <a:solidFill>
                <a:srgbClr val="B0966E"/>
              </a:solidFill>
              <a:latin typeface="Pretendard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B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3800" y="571500"/>
            <a:ext cx="152400" cy="152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853" y="800219"/>
            <a:ext cx="16675100" cy="8674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9716" y="3608912"/>
            <a:ext cx="3217884" cy="5065188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3703" y="3573062"/>
            <a:ext cx="3235231" cy="5092494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4470727" y="7244900"/>
            <a:ext cx="2905036" cy="1251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2000" b="0" i="0" u="none" strike="noStrike" dirty="0">
                <a:solidFill>
                  <a:srgbClr val="000000"/>
                </a:solidFill>
                <a:ea typeface="Pretendard Regular"/>
              </a:rPr>
              <a:t>출퇴근 시간대</a:t>
            </a:r>
            <a:r>
              <a:rPr lang="en-US" altLang="ko-KR" sz="2000" b="0" i="0" u="none" strike="noStrike" dirty="0">
                <a:solidFill>
                  <a:srgbClr val="000000"/>
                </a:solidFill>
                <a:ea typeface="Pretendard Regular"/>
              </a:rPr>
              <a:t>(09</a:t>
            </a:r>
            <a:r>
              <a:rPr lang="ko-KR" altLang="en-US" sz="2000" b="0" i="0" u="none" strike="noStrike" dirty="0">
                <a:solidFill>
                  <a:srgbClr val="000000"/>
                </a:solidFill>
                <a:ea typeface="Pretendard Regular"/>
              </a:rPr>
              <a:t>시</a:t>
            </a:r>
            <a:r>
              <a:rPr lang="en-US" altLang="ko-KR" sz="2000" b="0" i="0" u="none" strike="noStrike" dirty="0">
                <a:solidFill>
                  <a:srgbClr val="000000"/>
                </a:solidFill>
                <a:ea typeface="Pretendard Regular"/>
              </a:rPr>
              <a:t>, </a:t>
            </a:r>
            <a:r>
              <a:rPr lang="en-US" altLang="ko-KR" sz="2000" dirty="0">
                <a:solidFill>
                  <a:srgbClr val="000000"/>
                </a:solidFill>
                <a:ea typeface="Pretendard Regular"/>
              </a:rPr>
              <a:t>1</a:t>
            </a:r>
            <a:r>
              <a:rPr lang="en-US" altLang="ko-KR" sz="2000" b="0" i="0" u="none" strike="noStrike" dirty="0">
                <a:solidFill>
                  <a:srgbClr val="000000"/>
                </a:solidFill>
                <a:ea typeface="Pretendard Regular"/>
              </a:rPr>
              <a:t>8</a:t>
            </a:r>
            <a:r>
              <a:rPr lang="ko-KR" altLang="en-US" sz="2000" b="0" i="0" u="none" strike="noStrike" dirty="0">
                <a:solidFill>
                  <a:srgbClr val="000000"/>
                </a:solidFill>
                <a:ea typeface="Pretendard Regular"/>
              </a:rPr>
              <a:t>시</a:t>
            </a:r>
            <a:r>
              <a:rPr lang="en-US" altLang="ko-KR" sz="2000" b="0" i="0" u="none" strike="noStrike" dirty="0">
                <a:solidFill>
                  <a:srgbClr val="000000"/>
                </a:solidFill>
                <a:ea typeface="Pretendard Regular"/>
              </a:rPr>
              <a:t>)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2000" dirty="0">
                <a:solidFill>
                  <a:srgbClr val="000000"/>
                </a:solidFill>
                <a:latin typeface="Pretendard Regular"/>
                <a:ea typeface="Pretendard Regular"/>
              </a:rPr>
              <a:t>위험도 및 행동 요령 안내 </a:t>
            </a:r>
            <a:endParaRPr lang="en-US" sz="2000" b="0" i="0" u="none" strike="noStrike" dirty="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4850472" y="6951128"/>
            <a:ext cx="2234644" cy="35754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8729"/>
              </a:lnSpc>
            </a:pPr>
            <a:r>
              <a:rPr lang="en-US" sz="1700" b="1" i="0" u="none" strike="noStrike" spc="200" dirty="0">
                <a:solidFill>
                  <a:srgbClr val="B0966E"/>
                </a:solidFill>
                <a:latin typeface="Pretendard Medium"/>
              </a:rPr>
              <a:t>Smart Commute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28692" y="7277100"/>
            <a:ext cx="2830377" cy="125814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2000" b="0" i="0" u="none" strike="noStrike" dirty="0">
                <a:solidFill>
                  <a:srgbClr val="000000"/>
                </a:solidFill>
                <a:ea typeface="Pretendard Regular"/>
              </a:rPr>
              <a:t>서울시 </a:t>
            </a:r>
            <a:r>
              <a:rPr lang="en-US" altLang="ko-KR" sz="2000" b="0" i="0" u="none" strike="noStrike" dirty="0">
                <a:solidFill>
                  <a:srgbClr val="000000"/>
                </a:solidFill>
                <a:ea typeface="Pretendard Regular"/>
              </a:rPr>
              <a:t>25</a:t>
            </a:r>
            <a:r>
              <a:rPr lang="ko-KR" altLang="en-US" sz="2000" b="0" i="0" u="none" strike="noStrike" dirty="0">
                <a:solidFill>
                  <a:srgbClr val="000000"/>
                </a:solidFill>
                <a:ea typeface="Pretendard Regular"/>
              </a:rPr>
              <a:t>개 자치구별 기온</a:t>
            </a:r>
            <a:r>
              <a:rPr lang="en-US" altLang="ko-KR" sz="2000" b="0" i="0" u="none" strike="noStrike" dirty="0">
                <a:solidFill>
                  <a:srgbClr val="000000"/>
                </a:solidFill>
                <a:ea typeface="Pretendard Regular"/>
              </a:rPr>
              <a:t>,</a:t>
            </a:r>
            <a:r>
              <a:rPr lang="ko-KR" altLang="en-US" sz="2000" b="0" i="0" u="none" strike="noStrike" dirty="0">
                <a:solidFill>
                  <a:srgbClr val="000000"/>
                </a:solidFill>
                <a:ea typeface="Pretendard Regular"/>
              </a:rPr>
              <a:t>강수량</a:t>
            </a:r>
            <a:r>
              <a:rPr lang="en-US" altLang="ko-KR" sz="2000" b="0" i="0" u="none" strike="noStrike" dirty="0">
                <a:solidFill>
                  <a:srgbClr val="000000"/>
                </a:solidFill>
                <a:ea typeface="Pretendard Regular"/>
              </a:rPr>
              <a:t>,</a:t>
            </a:r>
            <a:r>
              <a:rPr lang="ko-KR" altLang="en-US" sz="2000" b="0" i="0" u="none" strike="noStrike" dirty="0">
                <a:solidFill>
                  <a:srgbClr val="000000"/>
                </a:solidFill>
                <a:ea typeface="Pretendard Regular"/>
              </a:rPr>
              <a:t>풍속</a:t>
            </a:r>
            <a:r>
              <a:rPr lang="en-US" altLang="ko-KR" sz="2000" b="0" i="0" u="none" strike="noStrike" dirty="0">
                <a:solidFill>
                  <a:srgbClr val="000000"/>
                </a:solidFill>
                <a:ea typeface="Pretendard Regular"/>
              </a:rPr>
              <a:t>/</a:t>
            </a:r>
            <a:r>
              <a:rPr lang="ko-KR" altLang="en-US" sz="2000" b="0" i="0" u="none" strike="noStrike" dirty="0">
                <a:solidFill>
                  <a:srgbClr val="000000"/>
                </a:solidFill>
                <a:ea typeface="Pretendard Regular"/>
              </a:rPr>
              <a:t>풍향 등 제공</a:t>
            </a:r>
            <a:endParaRPr lang="ko-KR" sz="2000" b="0" i="0" u="none" strike="noStrike" dirty="0">
              <a:solidFill>
                <a:srgbClr val="000000"/>
              </a:solidFill>
              <a:ea typeface="Pretendard Regular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455273" y="6983646"/>
            <a:ext cx="2177213" cy="3594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8729"/>
              </a:lnSpc>
            </a:pPr>
            <a:r>
              <a:rPr lang="ko-KR" altLang="en-US" sz="1700" b="1" i="0" u="none" strike="noStrike" spc="200" dirty="0">
                <a:solidFill>
                  <a:srgbClr val="B0966E"/>
                </a:solidFill>
                <a:latin typeface="Pretendard Medium"/>
              </a:rPr>
              <a:t>실시간 기상</a:t>
            </a:r>
            <a:r>
              <a:rPr lang="ko-KR" altLang="en-US" sz="1700" b="1" spc="200" dirty="0">
                <a:solidFill>
                  <a:srgbClr val="B0966E"/>
                </a:solidFill>
                <a:latin typeface="Pretendard Medium"/>
              </a:rPr>
              <a:t>조회</a:t>
            </a:r>
            <a:endParaRPr lang="en-US" sz="1700" b="1" i="0" u="none" strike="noStrike" spc="200" dirty="0">
              <a:solidFill>
                <a:srgbClr val="B0966E"/>
              </a:solidFill>
              <a:latin typeface="Pretendard Medium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4800600" y="2870200"/>
            <a:ext cx="86995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8729"/>
              </a:lnSpc>
            </a:pPr>
            <a:endParaRPr lang="en-US" sz="2600" b="0" i="0" u="none" strike="noStrike" dirty="0">
              <a:solidFill>
                <a:srgbClr val="715130"/>
              </a:solidFill>
              <a:latin typeface="Pretendard SemiBold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5651500" y="1524000"/>
            <a:ext cx="6985000" cy="1282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8729"/>
              </a:lnSpc>
            </a:pPr>
            <a:endParaRPr lang="en-US" sz="7200" b="1" i="0" u="none" strike="noStrike" spc="200" dirty="0">
              <a:solidFill>
                <a:srgbClr val="B0966E"/>
              </a:solidFill>
              <a:latin typeface="Pretendard ExtraBold"/>
            </a:endParaRPr>
          </a:p>
        </p:txBody>
      </p:sp>
      <p:pic>
        <p:nvPicPr>
          <p:cNvPr id="37" name="그림 36" descr="텍스트, 스크린샷, 지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DE866E-2BBC-C8D4-17CF-2322F231379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713777"/>
            <a:ext cx="3175120" cy="2878196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C203C088-7B81-FBA6-D4EE-81FD2F29AE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92556" y="3771899"/>
            <a:ext cx="3175043" cy="2820073"/>
          </a:xfrm>
          <a:prstGeom prst="rect">
            <a:avLst/>
          </a:prstGeom>
        </p:spPr>
      </p:pic>
      <p:pic>
        <p:nvPicPr>
          <p:cNvPr id="42" name="Picture 14">
            <a:extLst>
              <a:ext uri="{FF2B5EF4-FFF2-40B4-BE49-F238E27FC236}">
                <a16:creationId xmlns:a16="http://schemas.microsoft.com/office/drawing/2014/main" id="{137A78F4-893D-A31E-A95C-EABB23FD0F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6316" y="3619500"/>
            <a:ext cx="3217884" cy="5065188"/>
          </a:xfrm>
          <a:prstGeom prst="rect">
            <a:avLst/>
          </a:prstGeom>
        </p:spPr>
      </p:pic>
      <p:sp>
        <p:nvSpPr>
          <p:cNvPr id="43" name="TextBox 27">
            <a:extLst>
              <a:ext uri="{FF2B5EF4-FFF2-40B4-BE49-F238E27FC236}">
                <a16:creationId xmlns:a16="http://schemas.microsoft.com/office/drawing/2014/main" id="{6E8B9B3C-AFBC-9394-537F-600F412D51D1}"/>
              </a:ext>
            </a:extLst>
          </p:cNvPr>
          <p:cNvSpPr txBox="1"/>
          <p:nvPr/>
        </p:nvSpPr>
        <p:spPr>
          <a:xfrm>
            <a:off x="7747327" y="7244900"/>
            <a:ext cx="2905036" cy="1251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2000" b="0" i="0" u="none" strike="noStrike" dirty="0">
                <a:solidFill>
                  <a:srgbClr val="000000"/>
                </a:solidFill>
                <a:ea typeface="Pretendard Regular"/>
              </a:rPr>
              <a:t>세차지수</a:t>
            </a:r>
            <a:r>
              <a:rPr lang="en-US" altLang="ko-KR" sz="2000" b="0" i="0" u="none" strike="noStrike" dirty="0">
                <a:solidFill>
                  <a:srgbClr val="000000"/>
                </a:solidFill>
                <a:ea typeface="Pretendard Regular"/>
              </a:rPr>
              <a:t>/</a:t>
            </a:r>
            <a:r>
              <a:rPr lang="ko-KR" altLang="en-US" sz="2000" b="0" i="0" u="none" strike="noStrike" dirty="0">
                <a:solidFill>
                  <a:srgbClr val="000000"/>
                </a:solidFill>
                <a:ea typeface="Pretendard Regular"/>
              </a:rPr>
              <a:t>빨래지수</a:t>
            </a:r>
            <a:r>
              <a:rPr lang="en-US" altLang="ko-KR" sz="2000" dirty="0">
                <a:solidFill>
                  <a:srgbClr val="000000"/>
                </a:solidFill>
                <a:latin typeface="Pretendard Regular"/>
                <a:ea typeface="Pretendard Regular"/>
              </a:rPr>
              <a:t>/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20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</a:rPr>
              <a:t>추천 옷차림</a:t>
            </a:r>
            <a:endParaRPr lang="en-US" altLang="ko-KR" sz="2000" b="0" i="0" u="none" strike="noStrike" dirty="0">
              <a:solidFill>
                <a:srgbClr val="000000"/>
              </a:solidFill>
              <a:ea typeface="Pretendard Regular"/>
            </a:endParaRPr>
          </a:p>
        </p:txBody>
      </p:sp>
      <p:sp>
        <p:nvSpPr>
          <p:cNvPr id="44" name="TextBox 29">
            <a:extLst>
              <a:ext uri="{FF2B5EF4-FFF2-40B4-BE49-F238E27FC236}">
                <a16:creationId xmlns:a16="http://schemas.microsoft.com/office/drawing/2014/main" id="{7BA883F4-DA00-F3EA-1061-0D6B598E4B3D}"/>
              </a:ext>
            </a:extLst>
          </p:cNvPr>
          <p:cNvSpPr txBox="1"/>
          <p:nvPr/>
        </p:nvSpPr>
        <p:spPr>
          <a:xfrm>
            <a:off x="8127072" y="6961716"/>
            <a:ext cx="2234644" cy="35754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8729"/>
              </a:lnSpc>
            </a:pPr>
            <a:r>
              <a:rPr lang="en-US" sz="1700" b="1" i="0" u="none" strike="noStrike" spc="200" dirty="0">
                <a:solidFill>
                  <a:srgbClr val="B0966E"/>
                </a:solidFill>
                <a:latin typeface="Pretendard Medium"/>
              </a:rPr>
              <a:t>AI</a:t>
            </a:r>
            <a:r>
              <a:rPr lang="ko-KR" altLang="en-US" sz="1700" b="1" i="0" u="none" strike="noStrike" spc="200" dirty="0">
                <a:solidFill>
                  <a:srgbClr val="B0966E"/>
                </a:solidFill>
                <a:latin typeface="Pretendard Medium"/>
              </a:rPr>
              <a:t>라이프 스타일 가이드</a:t>
            </a:r>
            <a:endParaRPr lang="en-US" sz="1700" b="1" i="0" u="none" strike="noStrike" spc="200" dirty="0">
              <a:solidFill>
                <a:srgbClr val="B0966E"/>
              </a:solidFill>
              <a:latin typeface="Pretendard Medium"/>
            </a:endParaRPr>
          </a:p>
        </p:txBody>
      </p:sp>
      <p:pic>
        <p:nvPicPr>
          <p:cNvPr id="46" name="Picture 14">
            <a:extLst>
              <a:ext uri="{FF2B5EF4-FFF2-40B4-BE49-F238E27FC236}">
                <a16:creationId xmlns:a16="http://schemas.microsoft.com/office/drawing/2014/main" id="{B46FB698-A5A6-FBCA-4AEA-9AD411A26B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02916" y="3619500"/>
            <a:ext cx="3217884" cy="5065188"/>
          </a:xfrm>
          <a:prstGeom prst="rect">
            <a:avLst/>
          </a:prstGeom>
        </p:spPr>
      </p:pic>
      <p:sp>
        <p:nvSpPr>
          <p:cNvPr id="47" name="TextBox 27">
            <a:extLst>
              <a:ext uri="{FF2B5EF4-FFF2-40B4-BE49-F238E27FC236}">
                <a16:creationId xmlns:a16="http://schemas.microsoft.com/office/drawing/2014/main" id="{25110C7F-2FBE-A2DF-89A7-33FB294549A3}"/>
              </a:ext>
            </a:extLst>
          </p:cNvPr>
          <p:cNvSpPr txBox="1"/>
          <p:nvPr/>
        </p:nvSpPr>
        <p:spPr>
          <a:xfrm>
            <a:off x="11023927" y="7244900"/>
            <a:ext cx="2905036" cy="1251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2000" dirty="0">
                <a:solidFill>
                  <a:srgbClr val="000000"/>
                </a:solidFill>
                <a:ea typeface="Pretendard Regular"/>
              </a:rPr>
              <a:t>시간별</a:t>
            </a:r>
            <a:r>
              <a:rPr lang="en-US" altLang="ko-KR" sz="2000" dirty="0">
                <a:solidFill>
                  <a:srgbClr val="000000"/>
                </a:solidFill>
                <a:ea typeface="Pretendard Regular"/>
              </a:rPr>
              <a:t>/</a:t>
            </a:r>
            <a:r>
              <a:rPr lang="ko-KR" altLang="en-US" sz="2000" b="0" i="0" u="none" strike="noStrike" dirty="0">
                <a:solidFill>
                  <a:srgbClr val="000000"/>
                </a:solidFill>
                <a:ea typeface="Pretendard Regular"/>
              </a:rPr>
              <a:t>주간예보표 </a:t>
            </a:r>
            <a:endParaRPr lang="en-US" sz="2000" b="0" i="0" u="none" strike="noStrike" dirty="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48" name="TextBox 29">
            <a:extLst>
              <a:ext uri="{FF2B5EF4-FFF2-40B4-BE49-F238E27FC236}">
                <a16:creationId xmlns:a16="http://schemas.microsoft.com/office/drawing/2014/main" id="{46CE7D56-C657-DA11-7A96-732A22B67DBD}"/>
              </a:ext>
            </a:extLst>
          </p:cNvPr>
          <p:cNvSpPr txBox="1"/>
          <p:nvPr/>
        </p:nvSpPr>
        <p:spPr>
          <a:xfrm>
            <a:off x="11403672" y="6961716"/>
            <a:ext cx="2234644" cy="35754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8729"/>
              </a:lnSpc>
            </a:pPr>
            <a:r>
              <a:rPr lang="ko-KR" altLang="en-US" sz="1700" b="1" i="0" u="none" strike="noStrike" spc="200" dirty="0">
                <a:solidFill>
                  <a:srgbClr val="B0966E"/>
                </a:solidFill>
                <a:latin typeface="Pretendard Medium"/>
              </a:rPr>
              <a:t>전문 기상 분석</a:t>
            </a:r>
            <a:r>
              <a:rPr lang="en-US" altLang="ko-KR" sz="1700" b="1" i="0" u="none" strike="noStrike" spc="200" dirty="0">
                <a:solidFill>
                  <a:srgbClr val="B0966E"/>
                </a:solidFill>
                <a:latin typeface="Pretendard Medium"/>
              </a:rPr>
              <a:t>1</a:t>
            </a:r>
            <a:endParaRPr lang="en-US" sz="1700" b="1" i="0" u="none" strike="noStrike" spc="200" dirty="0">
              <a:solidFill>
                <a:srgbClr val="B0966E"/>
              </a:solidFill>
              <a:latin typeface="Pretendard Medium"/>
            </a:endParaRPr>
          </a:p>
        </p:txBody>
      </p:sp>
      <p:pic>
        <p:nvPicPr>
          <p:cNvPr id="50" name="Picture 14">
            <a:extLst>
              <a:ext uri="{FF2B5EF4-FFF2-40B4-BE49-F238E27FC236}">
                <a16:creationId xmlns:a16="http://schemas.microsoft.com/office/drawing/2014/main" id="{321C3F54-18C8-94C2-748D-756F569E21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55716" y="3619500"/>
            <a:ext cx="3217884" cy="5065188"/>
          </a:xfrm>
          <a:prstGeom prst="rect">
            <a:avLst/>
          </a:prstGeom>
        </p:spPr>
      </p:pic>
      <p:sp>
        <p:nvSpPr>
          <p:cNvPr id="51" name="TextBox 27">
            <a:extLst>
              <a:ext uri="{FF2B5EF4-FFF2-40B4-BE49-F238E27FC236}">
                <a16:creationId xmlns:a16="http://schemas.microsoft.com/office/drawing/2014/main" id="{889671D0-2838-62BB-BC8F-6491AEC82FB4}"/>
              </a:ext>
            </a:extLst>
          </p:cNvPr>
          <p:cNvSpPr txBox="1"/>
          <p:nvPr/>
        </p:nvSpPr>
        <p:spPr>
          <a:xfrm>
            <a:off x="14376727" y="7179288"/>
            <a:ext cx="2905036" cy="1251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20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</a:rPr>
              <a:t>강수레이더</a:t>
            </a:r>
            <a:r>
              <a:rPr lang="en-US" altLang="ko-KR" sz="20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</a:rPr>
              <a:t>/</a:t>
            </a:r>
            <a:r>
              <a:rPr lang="ko-KR" altLang="en-US" sz="20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</a:rPr>
              <a:t>천리안 위성영상</a:t>
            </a:r>
            <a:r>
              <a:rPr lang="en-US" altLang="ko-KR" sz="20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</a:rPr>
              <a:t>,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20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</a:rPr>
              <a:t>레이더 반사도</a:t>
            </a:r>
            <a:r>
              <a:rPr lang="en-US" altLang="ko-KR" sz="20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</a:rPr>
              <a:t>(</a:t>
            </a:r>
            <a:r>
              <a:rPr lang="en-US" altLang="ko-KR" sz="20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</a:rPr>
              <a:t>dBZ</a:t>
            </a:r>
            <a:r>
              <a:rPr lang="en-US" altLang="ko-KR" sz="20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</a:rPr>
              <a:t>)</a:t>
            </a:r>
            <a:endParaRPr lang="en-US" sz="2000" b="0" i="0" u="none" strike="noStrike" dirty="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52" name="TextBox 29">
            <a:extLst>
              <a:ext uri="{FF2B5EF4-FFF2-40B4-BE49-F238E27FC236}">
                <a16:creationId xmlns:a16="http://schemas.microsoft.com/office/drawing/2014/main" id="{5B52A421-011F-A188-251A-0E7FC64AF6C9}"/>
              </a:ext>
            </a:extLst>
          </p:cNvPr>
          <p:cNvSpPr txBox="1"/>
          <p:nvPr/>
        </p:nvSpPr>
        <p:spPr>
          <a:xfrm>
            <a:off x="14756472" y="6961716"/>
            <a:ext cx="2234644" cy="35754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8729"/>
              </a:lnSpc>
            </a:pPr>
            <a:r>
              <a:rPr lang="ko-KR" altLang="en-US" sz="1700" b="1" i="0" u="none" strike="noStrike" spc="200" dirty="0">
                <a:solidFill>
                  <a:srgbClr val="B0966E"/>
                </a:solidFill>
                <a:latin typeface="Pretendard Medium"/>
              </a:rPr>
              <a:t>전문 기상 분석</a:t>
            </a:r>
            <a:r>
              <a:rPr lang="en-US" altLang="ko-KR" sz="1700" b="1" i="0" u="none" strike="noStrike" spc="200" dirty="0">
                <a:solidFill>
                  <a:srgbClr val="B0966E"/>
                </a:solidFill>
                <a:latin typeface="Pretendard Medium"/>
              </a:rPr>
              <a:t>2</a:t>
            </a:r>
            <a:endParaRPr lang="en-US" sz="1700" b="1" i="0" u="none" strike="noStrike" spc="200" dirty="0">
              <a:solidFill>
                <a:srgbClr val="B0966E"/>
              </a:solidFill>
              <a:latin typeface="Pretendard Medium"/>
            </a:endParaRPr>
          </a:p>
        </p:txBody>
      </p:sp>
      <p:pic>
        <p:nvPicPr>
          <p:cNvPr id="55" name="그림 54" descr="텍스트, 전자제품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97CAECF-A5AC-8C68-3CAD-34F4FD85ABF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3738154"/>
            <a:ext cx="3159170" cy="2853820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D6E2BCA4-FEF9-288A-C011-E51911AC698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37885" y="3713776"/>
            <a:ext cx="3182916" cy="2878197"/>
          </a:xfrm>
          <a:prstGeom prst="rect">
            <a:avLst/>
          </a:prstGeom>
        </p:spPr>
      </p:pic>
      <p:pic>
        <p:nvPicPr>
          <p:cNvPr id="61" name="그림 60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C65333F-43C4-D3B5-2CF9-2B180F54CA0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1073" y="3734948"/>
            <a:ext cx="3192527" cy="2857025"/>
          </a:xfrm>
          <a:prstGeom prst="rect">
            <a:avLst/>
          </a:prstGeom>
        </p:spPr>
      </p:pic>
      <p:sp>
        <p:nvSpPr>
          <p:cNvPr id="62" name="TextBox 12">
            <a:extLst>
              <a:ext uri="{FF2B5EF4-FFF2-40B4-BE49-F238E27FC236}">
                <a16:creationId xmlns:a16="http://schemas.microsoft.com/office/drawing/2014/main" id="{0A33EDAE-FAAA-9DE1-FE7A-945B32C91E43}"/>
              </a:ext>
            </a:extLst>
          </p:cNvPr>
          <p:cNvSpPr txBox="1"/>
          <p:nvPr/>
        </p:nvSpPr>
        <p:spPr>
          <a:xfrm>
            <a:off x="3467100" y="1358900"/>
            <a:ext cx="113538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7000" b="0" i="0" u="none" strike="noStrike" dirty="0">
                <a:solidFill>
                  <a:srgbClr val="715130"/>
                </a:solidFill>
                <a:latin typeface="esamanru OTF Bold"/>
                <a:ea typeface="esamanru OTF Bold"/>
              </a:rPr>
              <a:t>구현기능 요약</a:t>
            </a:r>
            <a:endParaRPr lang="ko-KR" sz="7000" b="0" i="0" u="none" strike="noStrike" dirty="0">
              <a:solidFill>
                <a:srgbClr val="715130"/>
              </a:solidFill>
              <a:ea typeface="esamanru OTF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1A79B0-CF95-0DC3-C9CA-8D13D228A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2CD0796-BCBF-73ED-BAFF-467D27EB6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A5A88878-48DE-E1A1-EBAA-BC088FE84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A17600D5-8B46-8F0E-21A0-AA4CC51289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CFF82C18-65BA-A1BE-09E3-1534966012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BD743E74-D1E7-DFC0-D8E5-F492D1CB12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3800" y="571500"/>
            <a:ext cx="152400" cy="1524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9D122E33-62EA-7CD8-5577-37AC715FA5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50" y="825500"/>
            <a:ext cx="16675100" cy="86741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61D83277-2E13-6AA7-36FE-A8512477D1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5100" y="2717800"/>
            <a:ext cx="15430500" cy="12700"/>
          </a:xfrm>
          <a:prstGeom prst="rect">
            <a:avLst/>
          </a:prstGeom>
        </p:spPr>
      </p:pic>
      <p:sp>
        <p:nvSpPr>
          <p:cNvPr id="12" name="TextBox 12">
            <a:extLst>
              <a:ext uri="{FF2B5EF4-FFF2-40B4-BE49-F238E27FC236}">
                <a16:creationId xmlns:a16="http://schemas.microsoft.com/office/drawing/2014/main" id="{4EFD8BCC-BC76-EFFF-D514-319B8EDF7CAC}"/>
              </a:ext>
            </a:extLst>
          </p:cNvPr>
          <p:cNvSpPr txBox="1"/>
          <p:nvPr/>
        </p:nvSpPr>
        <p:spPr>
          <a:xfrm>
            <a:off x="3467100" y="1358900"/>
            <a:ext cx="113538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7000" b="0" i="0" u="none" strike="noStrike" dirty="0">
                <a:solidFill>
                  <a:srgbClr val="715130"/>
                </a:solidFill>
                <a:latin typeface="esamanru OTF Bold"/>
                <a:ea typeface="esamanru OTF Bold"/>
              </a:rPr>
              <a:t>시스템 아키텍처</a:t>
            </a:r>
            <a:endParaRPr lang="ko-KR" sz="7000" b="0" i="0" u="none" strike="noStrike" dirty="0">
              <a:solidFill>
                <a:srgbClr val="715130"/>
              </a:solidFill>
              <a:ea typeface="esamanru OTF Bold"/>
            </a:endParaRPr>
          </a:p>
        </p:txBody>
      </p:sp>
      <p:sp>
        <p:nvSpPr>
          <p:cNvPr id="11" name="TextBox 29">
            <a:extLst>
              <a:ext uri="{FF2B5EF4-FFF2-40B4-BE49-F238E27FC236}">
                <a16:creationId xmlns:a16="http://schemas.microsoft.com/office/drawing/2014/main" id="{CDC33799-6524-5AD5-3076-50A4E216671C}"/>
              </a:ext>
            </a:extLst>
          </p:cNvPr>
          <p:cNvSpPr txBox="1"/>
          <p:nvPr/>
        </p:nvSpPr>
        <p:spPr>
          <a:xfrm>
            <a:off x="5486400" y="2819400"/>
            <a:ext cx="68453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8729"/>
              </a:lnSpc>
            </a:pPr>
            <a:r>
              <a:rPr lang="ko-KR" altLang="en-US" sz="2400" b="1" spc="100" dirty="0">
                <a:solidFill>
                  <a:srgbClr val="B0966E"/>
                </a:solidFill>
                <a:latin typeface="Pretendard Medium"/>
              </a:rPr>
              <a:t>개발 환경 및 선정 근거</a:t>
            </a:r>
            <a:endParaRPr lang="en-US" sz="2400" b="1" i="0" u="none" strike="noStrike" spc="100" dirty="0">
              <a:solidFill>
                <a:srgbClr val="B0966E"/>
              </a:solidFill>
              <a:latin typeface="Pretendard Medium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9944E752-9440-D6A7-F6DB-8F47248EE3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861499"/>
              </p:ext>
            </p:extLst>
          </p:nvPr>
        </p:nvGraphicFramePr>
        <p:xfrm>
          <a:off x="1435100" y="3162300"/>
          <a:ext cx="15328899" cy="62509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109633">
                  <a:extLst>
                    <a:ext uri="{9D8B030D-6E8A-4147-A177-3AD203B41FA5}">
                      <a16:colId xmlns:a16="http://schemas.microsoft.com/office/drawing/2014/main" val="2894328288"/>
                    </a:ext>
                  </a:extLst>
                </a:gridCol>
                <a:gridCol w="5109633">
                  <a:extLst>
                    <a:ext uri="{9D8B030D-6E8A-4147-A177-3AD203B41FA5}">
                      <a16:colId xmlns:a16="http://schemas.microsoft.com/office/drawing/2014/main" val="68845943"/>
                    </a:ext>
                  </a:extLst>
                </a:gridCol>
                <a:gridCol w="5109633">
                  <a:extLst>
                    <a:ext uri="{9D8B030D-6E8A-4147-A177-3AD203B41FA5}">
                      <a16:colId xmlns:a16="http://schemas.microsoft.com/office/drawing/2014/main" val="1202749119"/>
                    </a:ext>
                  </a:extLst>
                </a:gridCol>
              </a:tblGrid>
              <a:tr h="40592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2400" b="1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분류</a:t>
                      </a:r>
                      <a:endParaRPr lang="ko-KR" altLang="en-US" sz="2400" dirty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7384" marR="37384" marT="24923" marB="24923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2400" b="1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항목</a:t>
                      </a:r>
                      <a:endParaRPr lang="ko-KR" altLang="en-US" sz="2400" dirty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7384" marR="37384" marT="24923" marB="24923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2400" b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주요 선정 근거</a:t>
                      </a:r>
                      <a:endParaRPr lang="ko-KR" altLang="en-US" sz="240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7384" marR="37384" marT="24923" marB="24923" anchor="ctr"/>
                </a:tc>
                <a:extLst>
                  <a:ext uri="{0D108BD9-81ED-4DB2-BD59-A6C34878D82A}">
                    <a16:rowId xmlns:a16="http://schemas.microsoft.com/office/drawing/2014/main" val="1148160770"/>
                  </a:ext>
                </a:extLst>
              </a:tr>
              <a:tr h="772195">
                <a:tc rowSpan="2"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2400" b="1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필수 환경</a:t>
                      </a:r>
                      <a:r>
                        <a:rPr lang="ko-KR" altLang="en-US" sz="240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2400" baseline="30000" dirty="0">
                          <a:solidFill>
                            <a:srgbClr val="444746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altLang="en-US" sz="2400" dirty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7384" marR="37384" marT="24923" marB="24923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 b="1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Python</a:t>
                      </a:r>
                      <a:r>
                        <a:rPr lang="en-US" sz="240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sz="2400" baseline="30000" dirty="0">
                          <a:solidFill>
                            <a:srgbClr val="444746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en-US" sz="2400" dirty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7384" marR="37384" marT="24923" marB="24923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240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데이터 분석 및 복잡한 </a:t>
                      </a:r>
                      <a:r>
                        <a:rPr lang="en-US" altLang="ko-KR" sz="240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JSON/XML </a:t>
                      </a:r>
                      <a:r>
                        <a:rPr lang="ko-KR" altLang="en-US" sz="240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데이터 처리에 최적화</a:t>
                      </a:r>
                      <a:r>
                        <a:rPr lang="en-US" altLang="ko-KR" sz="2400" baseline="30000" dirty="0">
                          <a:solidFill>
                            <a:srgbClr val="444746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r>
                        <a:rPr lang="en-US" altLang="ko-KR" sz="240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7384" marR="37384" marT="24923" marB="24923" anchor="ctr"/>
                </a:tc>
                <a:extLst>
                  <a:ext uri="{0D108BD9-81ED-4DB2-BD59-A6C34878D82A}">
                    <a16:rowId xmlns:a16="http://schemas.microsoft.com/office/drawing/2014/main" val="2020065775"/>
                  </a:ext>
                </a:extLst>
              </a:tr>
              <a:tr h="772195"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ko-KR" alt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7384" marR="37384" marT="24923" marB="24923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2400" b="1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웹 브라우저</a:t>
                      </a:r>
                      <a:r>
                        <a:rPr lang="ko-KR" altLang="en-US" sz="240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2400" baseline="30000" dirty="0">
                          <a:solidFill>
                            <a:srgbClr val="444746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ko-KR" altLang="en-US" sz="2400" dirty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7384" marR="37384" marT="24923" marB="24923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240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Chrome, Edge </a:t>
                      </a:r>
                      <a:r>
                        <a:rPr lang="ko-KR" altLang="en-US" sz="240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등 최신 브라우저 </a:t>
                      </a:r>
                      <a:r>
                        <a:rPr lang="en-US" altLang="ko-KR" sz="240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(SVG </a:t>
                      </a:r>
                      <a:r>
                        <a:rPr lang="ko-KR" altLang="en-US" sz="240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및 </a:t>
                      </a:r>
                      <a:r>
                        <a:rPr lang="en-US" altLang="ko-KR" sz="240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CSS </a:t>
                      </a:r>
                      <a:r>
                        <a:rPr lang="ko-KR" altLang="en-US" sz="240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렌더링 지원</a:t>
                      </a:r>
                      <a:r>
                        <a:rPr lang="en-US" altLang="ko-KR" sz="240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2400" baseline="30000">
                          <a:solidFill>
                            <a:srgbClr val="444746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r>
                        <a:rPr lang="en-US" altLang="ko-KR" sz="240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7384" marR="37384" marT="24923" marB="24923" anchor="ctr"/>
                </a:tc>
                <a:extLst>
                  <a:ext uri="{0D108BD9-81ED-4DB2-BD59-A6C34878D82A}">
                    <a16:rowId xmlns:a16="http://schemas.microsoft.com/office/drawing/2014/main" val="2692377019"/>
                  </a:ext>
                </a:extLst>
              </a:tr>
              <a:tr h="1120405">
                <a:tc rowSpan="3"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2400" b="1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핵심 라이브러리</a:t>
                      </a:r>
                      <a:r>
                        <a:rPr lang="ko-KR" altLang="en-US" sz="240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2400" baseline="30000" dirty="0">
                          <a:solidFill>
                            <a:srgbClr val="444746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lang="ko-KR" altLang="en-US" sz="2400" dirty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7384" marR="37384" marT="24923" marB="24923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 b="1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Flask</a:t>
                      </a:r>
                      <a:r>
                        <a:rPr lang="en-US" sz="240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sz="2400" baseline="30000" dirty="0">
                          <a:solidFill>
                            <a:srgbClr val="444746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en-US" sz="2400" dirty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7384" marR="37384" marT="24923" marB="24923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240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Django</a:t>
                      </a:r>
                      <a:r>
                        <a:rPr lang="ko-KR" altLang="en-US" sz="240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에 비해 경량화되어 오버헤드를 줄이고</a:t>
                      </a:r>
                      <a:r>
                        <a:rPr lang="en-US" altLang="ko-KR" sz="240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확장이 용이한 웹 프레임워크</a:t>
                      </a:r>
                      <a:r>
                        <a:rPr lang="en-US" altLang="ko-KR" sz="2400" baseline="30000">
                          <a:solidFill>
                            <a:srgbClr val="444746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  <a:r>
                        <a:rPr lang="en-US" altLang="ko-KR" sz="240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7384" marR="37384" marT="24923" marB="24923" anchor="ctr"/>
                </a:tc>
                <a:extLst>
                  <a:ext uri="{0D108BD9-81ED-4DB2-BD59-A6C34878D82A}">
                    <a16:rowId xmlns:a16="http://schemas.microsoft.com/office/drawing/2014/main" val="2631426901"/>
                  </a:ext>
                </a:extLst>
              </a:tr>
              <a:tr h="772195"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ko-KR" alt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7384" marR="37384" marT="24923" marB="24923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 b="1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Requests</a:t>
                      </a:r>
                      <a:r>
                        <a:rPr lang="en-US" sz="240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sz="2400" baseline="30000" dirty="0">
                          <a:solidFill>
                            <a:srgbClr val="444746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  <a:endParaRPr lang="en-US" sz="2400" dirty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7384" marR="37384" marT="24923" marB="24923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240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외부 </a:t>
                      </a:r>
                      <a:r>
                        <a:rPr lang="en-US" altLang="ko-KR" sz="240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API </a:t>
                      </a:r>
                      <a:r>
                        <a:rPr lang="ko-KR" altLang="en-US" sz="240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통신의 안정성을 보장하는 </a:t>
                      </a:r>
                      <a:r>
                        <a:rPr lang="en-US" altLang="ko-KR" sz="240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Python</a:t>
                      </a:r>
                      <a:r>
                        <a:rPr lang="ko-KR" altLang="en-US" sz="240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의 표준 </a:t>
                      </a:r>
                      <a:r>
                        <a:rPr lang="en-US" altLang="ko-KR" sz="240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HTTP </a:t>
                      </a:r>
                      <a:r>
                        <a:rPr lang="ko-KR" altLang="en-US" sz="240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라이브러리</a:t>
                      </a:r>
                      <a:r>
                        <a:rPr lang="en-US" altLang="ko-KR" sz="2400" baseline="30000">
                          <a:solidFill>
                            <a:srgbClr val="444746"/>
                          </a:solidFill>
                          <a:effectLst/>
                          <a:latin typeface="+mn-ea"/>
                          <a:ea typeface="+mn-ea"/>
                        </a:rPr>
                        <a:t>13</a:t>
                      </a:r>
                      <a:r>
                        <a:rPr lang="en-US" altLang="ko-KR" sz="240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7384" marR="37384" marT="24923" marB="24923" anchor="ctr"/>
                </a:tc>
                <a:extLst>
                  <a:ext uri="{0D108BD9-81ED-4DB2-BD59-A6C34878D82A}">
                    <a16:rowId xmlns:a16="http://schemas.microsoft.com/office/drawing/2014/main" val="2717756815"/>
                  </a:ext>
                </a:extLst>
              </a:tr>
              <a:tr h="772195"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ko-KR" alt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7384" marR="37384" marT="24923" marB="24923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 b="1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Pandas</a:t>
                      </a:r>
                      <a:r>
                        <a:rPr lang="en-US" sz="240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sz="2400" baseline="30000" dirty="0">
                          <a:solidFill>
                            <a:srgbClr val="444746"/>
                          </a:solidFill>
                          <a:effectLst/>
                          <a:latin typeface="+mn-ea"/>
                          <a:ea typeface="+mn-ea"/>
                        </a:rPr>
                        <a:t>14</a:t>
                      </a:r>
                      <a:endParaRPr lang="en-US" sz="2400" dirty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7384" marR="37384" marT="24923" marB="24923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240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시계열 날씨 데이터의 정렬</a:t>
                      </a:r>
                      <a:r>
                        <a:rPr lang="en-US" altLang="ko-KR" sz="240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필터링 및 그룹화 처리</a:t>
                      </a:r>
                      <a:r>
                        <a:rPr lang="en-US" altLang="ko-KR" sz="2400" baseline="30000" dirty="0">
                          <a:solidFill>
                            <a:srgbClr val="444746"/>
                          </a:solidFill>
                          <a:effectLst/>
                          <a:latin typeface="+mn-ea"/>
                          <a:ea typeface="+mn-ea"/>
                        </a:rPr>
                        <a:t>15</a:t>
                      </a:r>
                      <a:r>
                        <a:rPr lang="en-US" altLang="ko-KR" sz="240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7384" marR="37384" marT="24923" marB="24923" anchor="ctr"/>
                </a:tc>
                <a:extLst>
                  <a:ext uri="{0D108BD9-81ED-4DB2-BD59-A6C34878D82A}">
                    <a16:rowId xmlns:a16="http://schemas.microsoft.com/office/drawing/2014/main" val="1149986516"/>
                  </a:ext>
                </a:extLst>
              </a:tr>
              <a:tr h="77219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 b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Template Engine</a:t>
                      </a: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sz="2400" baseline="30000">
                          <a:solidFill>
                            <a:srgbClr val="444746"/>
                          </a:solidFill>
                          <a:effectLst/>
                          <a:latin typeface="+mn-ea"/>
                          <a:ea typeface="+mn-ea"/>
                        </a:rPr>
                        <a:t>16</a:t>
                      </a:r>
                      <a:endParaRPr lang="en-US" sz="240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7384" marR="37384" marT="24923" marB="24923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 b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Jinja2</a:t>
                      </a: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sz="2400" baseline="30000">
                          <a:solidFill>
                            <a:srgbClr val="444746"/>
                          </a:solidFill>
                          <a:effectLst/>
                          <a:latin typeface="+mn-ea"/>
                          <a:ea typeface="+mn-ea"/>
                        </a:rPr>
                        <a:t>17</a:t>
                      </a:r>
                      <a:endParaRPr lang="en-US" sz="240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7384" marR="37384" marT="24923" marB="24923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240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검색 엔진 최적화에 유리하고</a:t>
                      </a:r>
                      <a:r>
                        <a:rPr lang="en-US" altLang="ko-KR" sz="240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개발 생산성이 높은 템플릿 엔진</a:t>
                      </a:r>
                      <a:r>
                        <a:rPr lang="en-US" altLang="ko-KR" sz="2400" baseline="30000" dirty="0">
                          <a:solidFill>
                            <a:srgbClr val="444746"/>
                          </a:solidFill>
                          <a:effectLst/>
                          <a:latin typeface="+mn-ea"/>
                          <a:ea typeface="+mn-ea"/>
                        </a:rPr>
                        <a:t>18</a:t>
                      </a:r>
                      <a:r>
                        <a:rPr lang="en-US" altLang="ko-KR" sz="240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7384" marR="37384" marT="24923" marB="24923" anchor="ctr"/>
                </a:tc>
                <a:extLst>
                  <a:ext uri="{0D108BD9-81ED-4DB2-BD59-A6C34878D82A}">
                    <a16:rowId xmlns:a16="http://schemas.microsoft.com/office/drawing/2014/main" val="1085596278"/>
                  </a:ext>
                </a:extLst>
              </a:tr>
              <a:tr h="77219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 b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UI Framework</a:t>
                      </a: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sz="2400" baseline="30000">
                          <a:solidFill>
                            <a:srgbClr val="444746"/>
                          </a:solidFill>
                          <a:effectLst/>
                          <a:latin typeface="+mn-ea"/>
                          <a:ea typeface="+mn-ea"/>
                        </a:rPr>
                        <a:t>19</a:t>
                      </a:r>
                      <a:endParaRPr lang="en-US" sz="240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7384" marR="37384" marT="24923" marB="24923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 b="1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Bootstrap 5</a:t>
                      </a:r>
                      <a:r>
                        <a:rPr lang="en-US" sz="240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sz="2400" baseline="30000" dirty="0">
                          <a:solidFill>
                            <a:srgbClr val="444746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lang="en-US" sz="2400" dirty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7384" marR="37384" marT="24923" marB="24923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240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반응형 웹 디자인을 손쉽게 구현할 수 있는 시스템</a:t>
                      </a:r>
                      <a:r>
                        <a:rPr lang="en-US" altLang="ko-KR" sz="2400" baseline="30000" dirty="0">
                          <a:solidFill>
                            <a:srgbClr val="444746"/>
                          </a:solidFill>
                          <a:effectLst/>
                          <a:latin typeface="+mn-ea"/>
                          <a:ea typeface="+mn-ea"/>
                        </a:rPr>
                        <a:t>21</a:t>
                      </a:r>
                      <a:r>
                        <a:rPr lang="en-US" altLang="ko-KR" sz="240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7384" marR="37384" marT="24923" marB="24923" anchor="ctr"/>
                </a:tc>
                <a:extLst>
                  <a:ext uri="{0D108BD9-81ED-4DB2-BD59-A6C34878D82A}">
                    <a16:rowId xmlns:a16="http://schemas.microsoft.com/office/drawing/2014/main" val="41290447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8048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92F67-9D5D-EA80-9AB2-F65D8D56E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24E2B9D-7EC6-80B6-931D-10DD308E6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570476C-B16E-7E7C-84F8-85C3E6857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49D9DB0D-7B7F-7AC0-18CA-6959584C4D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49396845-237F-3F13-2EF3-AEDFD29204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7D1F2231-0DE0-CCF2-7D1E-603C47E7DA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3800" y="571500"/>
            <a:ext cx="152400" cy="1524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6E89C965-EFC6-6623-F08F-A4C9939648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50" y="806450"/>
            <a:ext cx="16675100" cy="86741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1854A9DF-7202-012E-3AE0-6008EADC0A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5100" y="2717800"/>
            <a:ext cx="15430500" cy="127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C2711078-D94B-F3A5-F447-C72406EE7677}"/>
              </a:ext>
            </a:extLst>
          </p:cNvPr>
          <p:cNvSpPr txBox="1"/>
          <p:nvPr/>
        </p:nvSpPr>
        <p:spPr>
          <a:xfrm>
            <a:off x="2744150" y="4064000"/>
            <a:ext cx="12915900" cy="184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28650"/>
              </a:lnSpc>
            </a:pP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시스템은 기능별로 명확히 분리된 모듈 구조를 가진다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</a:p>
          <a:p>
            <a:pPr>
              <a:lnSpc>
                <a:spcPct val="128650"/>
              </a:lnSpc>
            </a:pPr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Controller Layer (app.py, server.py)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: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사용자 요청의 진입점이다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 URL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라우팅을 처리하고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적절한 비즈니스 로직을 호출한 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그 결과를 뷰 템플릿에 전달한다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</a:p>
          <a:p>
            <a:pPr latinLnBrk="1"/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Service/Business Logic Layer (kma_api.py)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: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기상청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API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호출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데이터 파싱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시간 계산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생활 지수 산출 등의 실질적인 연산이 수행된다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이 계층은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Flask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와 독립적으로 동작할 수 있도록 설계되었다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>
              <a:lnSpc>
                <a:spcPct val="128650"/>
              </a:lnSpc>
            </a:pPr>
            <a:endParaRPr lang="en-US" sz="2400" b="0" i="0" u="none" strike="noStrike" dirty="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2D292BF-BA3A-C24C-6D14-1C74F36B571E}"/>
              </a:ext>
            </a:extLst>
          </p:cNvPr>
          <p:cNvSpPr txBox="1"/>
          <p:nvPr/>
        </p:nvSpPr>
        <p:spPr>
          <a:xfrm>
            <a:off x="2742726" y="6807200"/>
            <a:ext cx="12915900" cy="148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atinLnBrk="1"/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Data Access Layer (config.py, grid_mapper.py) 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: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데이터의 </a:t>
            </a:r>
            <a:r>
              <a:rPr lang="ko-KR" altLang="ko-KR" sz="2400" dirty="0" err="1">
                <a:latin typeface="Pretendard Regular" panose="020B0600000101010101" charset="-127"/>
                <a:ea typeface="Pretendard Regular" panose="020B0600000101010101" charset="-127"/>
              </a:rPr>
              <a:t>설정값과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매핑 정보를 관리한다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 API Key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와 같은 민감 정보는 별도의 설정 파일로 분리하여 보안성을 강화하였다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</a:p>
          <a:p>
            <a:pPr latinLnBrk="1"/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Presentation Layer (templates/)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: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사용자에게 보여지는 화면을 담당한다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 Jinja2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템플릿 파일과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CSS, JavaScript,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이미지 파일 등으로 구성된다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l">
              <a:lnSpc>
                <a:spcPct val="128650"/>
              </a:lnSpc>
            </a:pPr>
            <a:endParaRPr lang="en-US" sz="2400" b="0" i="0" u="none" strike="noStrike" dirty="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054D191-C5E6-84AC-E0FF-D8C10C9ED618}"/>
              </a:ext>
            </a:extLst>
          </p:cNvPr>
          <p:cNvSpPr txBox="1"/>
          <p:nvPr/>
        </p:nvSpPr>
        <p:spPr>
          <a:xfrm>
            <a:off x="3467100" y="1358900"/>
            <a:ext cx="113538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7000" b="0" i="0" u="none" strike="noStrike" dirty="0">
                <a:solidFill>
                  <a:srgbClr val="715130"/>
                </a:solidFill>
                <a:latin typeface="esamanru OTF Bold"/>
                <a:ea typeface="esamanru OTF Bold"/>
              </a:rPr>
              <a:t>시스템 아키텍처</a:t>
            </a:r>
            <a:endParaRPr lang="ko-KR" sz="7000" b="0" i="0" u="none" strike="noStrike" dirty="0">
              <a:solidFill>
                <a:srgbClr val="715130"/>
              </a:solidFill>
              <a:ea typeface="esamanru OTF Bold"/>
            </a:endParaRPr>
          </a:p>
        </p:txBody>
      </p:sp>
      <p:sp>
        <p:nvSpPr>
          <p:cNvPr id="11" name="TextBox 29">
            <a:extLst>
              <a:ext uri="{FF2B5EF4-FFF2-40B4-BE49-F238E27FC236}">
                <a16:creationId xmlns:a16="http://schemas.microsoft.com/office/drawing/2014/main" id="{3648DABA-7290-22DD-868F-694AD10039F6}"/>
              </a:ext>
            </a:extLst>
          </p:cNvPr>
          <p:cNvSpPr txBox="1"/>
          <p:nvPr/>
        </p:nvSpPr>
        <p:spPr>
          <a:xfrm>
            <a:off x="5486400" y="2882900"/>
            <a:ext cx="68453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8729"/>
              </a:lnSpc>
            </a:pPr>
            <a:r>
              <a:rPr lang="ko-KR" altLang="en-US" sz="2400" b="1" i="0" u="none" strike="noStrike" spc="100" dirty="0">
                <a:solidFill>
                  <a:srgbClr val="B0966E"/>
                </a:solidFill>
                <a:latin typeface="Pretendard Medium"/>
              </a:rPr>
              <a:t>시스템 구조도 및 모듈 구성</a:t>
            </a:r>
            <a:endParaRPr lang="en-US" sz="2400" b="1" i="0" u="none" strike="noStrike" spc="100" dirty="0">
              <a:solidFill>
                <a:srgbClr val="B0966E"/>
              </a:solidFill>
              <a:latin typeface="Pretendard Medium"/>
            </a:endParaRPr>
          </a:p>
        </p:txBody>
      </p:sp>
    </p:spTree>
    <p:extLst>
      <p:ext uri="{BB962C8B-B14F-4D97-AF65-F5344CB8AC3E}">
        <p14:creationId xmlns:p14="http://schemas.microsoft.com/office/powerpoint/2010/main" val="1662476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B47D1-49CF-6534-1E67-FBE8B7D0C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48670C9-6E88-5A36-CB01-ED174BD34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7E40D332-3FE8-1098-98AA-1F4CD9E6E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EE647E33-827E-A97D-4D80-D496CEB3EB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0C1430CC-2071-5166-2F88-8BF45BFAFF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0F6180C4-35D7-A610-8D5B-498F4ECE4B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3800" y="571500"/>
            <a:ext cx="152400" cy="1524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192D25DB-42C3-270F-78D2-73772B387A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386" y="800100"/>
            <a:ext cx="16675100" cy="86741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1A7E6485-3237-A761-3200-468F354085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5100" y="2717800"/>
            <a:ext cx="15430500" cy="127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56398598-5CE5-FA78-3966-85E66597A6D3}"/>
              </a:ext>
            </a:extLst>
          </p:cNvPr>
          <p:cNvSpPr txBox="1"/>
          <p:nvPr/>
        </p:nvSpPr>
        <p:spPr>
          <a:xfrm>
            <a:off x="1438186" y="4315144"/>
            <a:ext cx="15557500" cy="184763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atinLnBrk="1"/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marL="457200" indent="-457200" latinLnBrk="1">
              <a:buAutoNum type="arabicParenR"/>
            </a:pPr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초기화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: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사용자가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지역을 선택하면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해당 지역의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ID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를 포착하여 서버에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GET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요청을 보낸다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</a:p>
          <a:p>
            <a:pPr latinLnBrk="1"/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2) Processing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: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요청 지역 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ID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를 격자 좌표로 변환해 최적 기준 시간과 현재 시간을 계산한 뒤 기상청 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API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에 호출한다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>
              <a:lnSpc>
                <a:spcPct val="128650"/>
              </a:lnSpc>
            </a:pPr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>
              <a:lnSpc>
                <a:spcPct val="128650"/>
              </a:lnSpc>
            </a:pPr>
            <a:endParaRPr lang="en-US" sz="2400" b="0" i="0" u="none" strike="noStrike" dirty="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4FDDF03-1AA9-3358-4A73-269C4C031CBB}"/>
              </a:ext>
            </a:extLst>
          </p:cNvPr>
          <p:cNvSpPr txBox="1"/>
          <p:nvPr/>
        </p:nvSpPr>
        <p:spPr>
          <a:xfrm>
            <a:off x="1438186" y="6332590"/>
            <a:ext cx="15557500" cy="148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atinLnBrk="1"/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3) Aggregation 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: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수신된 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JSON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을 </a:t>
            </a:r>
            <a:r>
              <a:rPr lang="ko-KR" altLang="en-US" sz="2400" dirty="0" err="1">
                <a:latin typeface="Pretendard Regular" panose="020B0600000101010101" charset="-127"/>
                <a:ea typeface="Pretendard Regular" panose="020B0600000101010101" charset="-127"/>
              </a:rPr>
              <a:t>파싱해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 출퇴근 위험도와 빨래 세차 지수를 계산해 데이터를 추가한다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</a:p>
          <a:p>
            <a:pPr latinLnBrk="1"/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4) </a:t>
            </a:r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렌더링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: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가공된 데이터는 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index.html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에 전달되어 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Jinja2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가 변수 치환과 날씨 배경적용을 수행한다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</a:p>
          <a:p>
            <a:pPr latinLnBrk="1"/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5) Display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: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완성된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HTML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문서가 클라이언트 브라우저로 전송되어 화면에 </a:t>
            </a:r>
            <a:r>
              <a:rPr lang="ko-KR" altLang="ko-KR" sz="2400" dirty="0" err="1">
                <a:latin typeface="Pretendard Regular" panose="020B0600000101010101" charset="-127"/>
                <a:ea typeface="Pretendard Regular" panose="020B0600000101010101" charset="-127"/>
              </a:rPr>
              <a:t>렌더링된다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l">
              <a:lnSpc>
                <a:spcPct val="128650"/>
              </a:lnSpc>
            </a:pPr>
            <a:endParaRPr lang="en-US" sz="2400" b="0" i="0" u="none" strike="noStrike" dirty="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7492B7E-0C58-BFB5-837C-645CCB425A3D}"/>
              </a:ext>
            </a:extLst>
          </p:cNvPr>
          <p:cNvSpPr txBox="1"/>
          <p:nvPr/>
        </p:nvSpPr>
        <p:spPr>
          <a:xfrm>
            <a:off x="3467100" y="1358900"/>
            <a:ext cx="113538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7000" b="0" i="0" u="none" strike="noStrike" dirty="0">
                <a:solidFill>
                  <a:srgbClr val="715130"/>
                </a:solidFill>
                <a:latin typeface="esamanru OTF Bold"/>
                <a:ea typeface="esamanru OTF Bold"/>
              </a:rPr>
              <a:t>시스템 아키텍처</a:t>
            </a:r>
            <a:endParaRPr lang="ko-KR" sz="7000" b="0" i="0" u="none" strike="noStrike" dirty="0">
              <a:solidFill>
                <a:srgbClr val="715130"/>
              </a:solidFill>
              <a:ea typeface="esamanru OTF Bold"/>
            </a:endParaRPr>
          </a:p>
        </p:txBody>
      </p:sp>
      <p:sp>
        <p:nvSpPr>
          <p:cNvPr id="11" name="TextBox 29">
            <a:extLst>
              <a:ext uri="{FF2B5EF4-FFF2-40B4-BE49-F238E27FC236}">
                <a16:creationId xmlns:a16="http://schemas.microsoft.com/office/drawing/2014/main" id="{CB997E77-CCBF-94A7-477A-C6CB735EDA51}"/>
              </a:ext>
            </a:extLst>
          </p:cNvPr>
          <p:cNvSpPr txBox="1"/>
          <p:nvPr/>
        </p:nvSpPr>
        <p:spPr>
          <a:xfrm>
            <a:off x="5486400" y="2882900"/>
            <a:ext cx="68453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8729"/>
              </a:lnSpc>
            </a:pPr>
            <a:r>
              <a:rPr lang="ko-KR" altLang="en-US" sz="2400" b="1" i="0" u="none" strike="noStrike" spc="100" dirty="0">
                <a:solidFill>
                  <a:srgbClr val="B0966E"/>
                </a:solidFill>
                <a:latin typeface="Pretendard Medium"/>
              </a:rPr>
              <a:t>데이터흐름</a:t>
            </a:r>
            <a:endParaRPr lang="en-US" sz="2400" b="1" i="0" u="none" strike="noStrike" spc="100" dirty="0">
              <a:solidFill>
                <a:srgbClr val="B0966E"/>
              </a:solidFill>
              <a:latin typeface="Pretendard Medium"/>
            </a:endParaRPr>
          </a:p>
        </p:txBody>
      </p:sp>
    </p:spTree>
    <p:extLst>
      <p:ext uri="{BB962C8B-B14F-4D97-AF65-F5344CB8AC3E}">
        <p14:creationId xmlns:p14="http://schemas.microsoft.com/office/powerpoint/2010/main" val="1129604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0EB85-6746-9377-A5D4-DB37304AE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FBD5237-29E8-AC31-EA05-CD5F07B56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BAE00648-6282-C895-228F-2D5BF9625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0BD03B73-7C2F-BCA6-45F3-E941592D91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B4E493E3-BB79-0B20-BF2F-B39DC4807E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90BE3BF0-9320-13F9-D150-11BE90DD27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3800" y="571500"/>
            <a:ext cx="152400" cy="1524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6844A96A-74A4-2520-1E3C-811EECAE3F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800" y="806450"/>
            <a:ext cx="16675100" cy="86741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EEC6EAB4-C287-81ED-E90E-601672407F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5100" y="2717800"/>
            <a:ext cx="15430500" cy="127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AEE99145-7E04-7F76-9F04-3DDE9FFBA00F}"/>
              </a:ext>
            </a:extLst>
          </p:cNvPr>
          <p:cNvSpPr txBox="1"/>
          <p:nvPr/>
        </p:nvSpPr>
        <p:spPr>
          <a:xfrm>
            <a:off x="2686050" y="5684735"/>
            <a:ext cx="12915900" cy="184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atinLnBrk="1"/>
            <a:r>
              <a:rPr lang="ko-KR" altLang="ko-KR" sz="2300" b="1" dirty="0">
                <a:solidFill>
                  <a:schemeClr val="bg2">
                    <a:lumMod val="50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기상청 격자 좌표계와 매핑 로직</a:t>
            </a:r>
            <a:endParaRPr lang="ko-KR" altLang="ko-KR" sz="2300" dirty="0">
              <a:solidFill>
                <a:schemeClr val="bg2">
                  <a:lumMod val="50000"/>
                </a:schemeClr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ko-KR" altLang="ko-KR" sz="2300" dirty="0">
                <a:latin typeface="Pretendard Regular" panose="020B0600000101010101" charset="-127"/>
                <a:ea typeface="Pretendard Regular" panose="020B0600000101010101" charset="-127"/>
              </a:rPr>
              <a:t>기상청은 예보의 정확도를 높이기 위해 위도</a:t>
            </a:r>
            <a:r>
              <a:rPr lang="en-US" altLang="ko-KR" sz="2300" dirty="0">
                <a:latin typeface="Pretendard Regular" panose="020B0600000101010101" charset="-127"/>
                <a:ea typeface="Pretendard Regular" panose="020B0600000101010101" charset="-127"/>
              </a:rPr>
              <a:t>/</a:t>
            </a:r>
            <a:r>
              <a:rPr lang="ko-KR" altLang="ko-KR" sz="2300" dirty="0">
                <a:latin typeface="Pretendard Regular" panose="020B0600000101010101" charset="-127"/>
                <a:ea typeface="Pretendard Regular" panose="020B0600000101010101" charset="-127"/>
              </a:rPr>
              <a:t>경도</a:t>
            </a:r>
            <a:r>
              <a:rPr lang="en-US" altLang="ko-KR" sz="2300" dirty="0">
                <a:latin typeface="Pretendard Regular" panose="020B0600000101010101" charset="-127"/>
                <a:ea typeface="Pretendard Regular" panose="020B0600000101010101" charset="-127"/>
              </a:rPr>
              <a:t>(GPS) </a:t>
            </a:r>
            <a:r>
              <a:rPr lang="ko-KR" altLang="ko-KR" sz="2300" dirty="0">
                <a:latin typeface="Pretendard Regular" panose="020B0600000101010101" charset="-127"/>
                <a:ea typeface="Pretendard Regular" panose="020B0600000101010101" charset="-127"/>
              </a:rPr>
              <a:t>대신</a:t>
            </a:r>
            <a:r>
              <a:rPr lang="en-US" altLang="ko-KR" sz="2300" dirty="0">
                <a:latin typeface="Pretendard Regular" panose="020B0600000101010101" charset="-127"/>
                <a:ea typeface="Pretendard Regular" panose="020B0600000101010101" charset="-127"/>
              </a:rPr>
              <a:t> '</a:t>
            </a:r>
            <a:r>
              <a:rPr lang="ko-KR" altLang="ko-KR" sz="2300" dirty="0">
                <a:latin typeface="Pretendard Regular" panose="020B0600000101010101" charset="-127"/>
                <a:ea typeface="Pretendard Regular" panose="020B0600000101010101" charset="-127"/>
              </a:rPr>
              <a:t>단기예보 구역</a:t>
            </a:r>
            <a:r>
              <a:rPr lang="en-US" altLang="ko-KR" sz="2300" dirty="0">
                <a:latin typeface="Pretendard Regular" panose="020B0600000101010101" charset="-127"/>
                <a:ea typeface="Pretendard Regular" panose="020B0600000101010101" charset="-127"/>
              </a:rPr>
              <a:t>'</a:t>
            </a:r>
            <a:r>
              <a:rPr lang="ko-KR" altLang="ko-KR" sz="2300" dirty="0">
                <a:latin typeface="Pretendard Regular" panose="020B0600000101010101" charset="-127"/>
                <a:ea typeface="Pretendard Regular" panose="020B0600000101010101" charset="-127"/>
              </a:rPr>
              <a:t>이라 불리는 격자 좌표계를 사용한다</a:t>
            </a:r>
            <a:r>
              <a:rPr lang="en-US" altLang="ko-KR" sz="2300" dirty="0">
                <a:latin typeface="Pretendard Regular" panose="020B0600000101010101" charset="-127"/>
                <a:ea typeface="Pretendard Regular" panose="020B0600000101010101" charset="-127"/>
              </a:rPr>
              <a:t>. </a:t>
            </a:r>
            <a:r>
              <a:rPr lang="ko-KR" altLang="ko-KR" sz="2300" dirty="0">
                <a:latin typeface="Pretendard Regular" panose="020B0600000101010101" charset="-127"/>
                <a:ea typeface="Pretendard Regular" panose="020B0600000101010101" charset="-127"/>
              </a:rPr>
              <a:t>따라서 일반적인 행정구역 정보를 기상청</a:t>
            </a:r>
            <a:r>
              <a:rPr lang="en-US" altLang="ko-KR" sz="2300" dirty="0">
                <a:latin typeface="Pretendard Regular" panose="020B0600000101010101" charset="-127"/>
                <a:ea typeface="Pretendard Regular" panose="020B0600000101010101" charset="-127"/>
              </a:rPr>
              <a:t> API</a:t>
            </a:r>
            <a:r>
              <a:rPr lang="ko-KR" altLang="ko-KR" sz="2300" dirty="0">
                <a:latin typeface="Pretendard Regular" panose="020B0600000101010101" charset="-127"/>
                <a:ea typeface="Pretendard Regular" panose="020B0600000101010101" charset="-127"/>
              </a:rPr>
              <a:t>가 이해할 수 있는 좌표로 변환하는 매핑 레이어가 필수적이다</a:t>
            </a:r>
            <a:r>
              <a:rPr lang="en-US" altLang="ko-KR" sz="23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</a:p>
          <a:p>
            <a:pPr latinLnBrk="1"/>
            <a:endParaRPr lang="ko-KR" altLang="ko-KR" sz="23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marL="285750" indent="-285750" latinLnBrk="1">
              <a:buFont typeface="Arial" panose="020B0604020202020204" pitchFamily="34" charset="0"/>
              <a:buChar char="•"/>
            </a:pPr>
            <a:r>
              <a:rPr lang="ko-KR" altLang="ko-KR" sz="2300" b="1" dirty="0">
                <a:latin typeface="Pretendard Regular" panose="020B0600000101010101" charset="-127"/>
                <a:ea typeface="Pretendard Regular" panose="020B0600000101010101" charset="-127"/>
              </a:rPr>
              <a:t>매핑 테이블 구조</a:t>
            </a:r>
            <a:r>
              <a:rPr lang="en-US" altLang="ko-KR" sz="2300" b="1" dirty="0">
                <a:latin typeface="Pretendard Regular" panose="020B0600000101010101" charset="-127"/>
                <a:ea typeface="Pretendard Regular" panose="020B0600000101010101" charset="-127"/>
              </a:rPr>
              <a:t> :</a:t>
            </a:r>
            <a:r>
              <a:rPr lang="en-US" altLang="ko-KR" sz="2300" dirty="0">
                <a:latin typeface="Pretendard Regular" panose="020B0600000101010101" charset="-127"/>
                <a:ea typeface="Pretendard Regular" panose="020B0600000101010101" charset="-127"/>
              </a:rPr>
              <a:t> kma_api.py </a:t>
            </a:r>
            <a:r>
              <a:rPr lang="ko-KR" altLang="ko-KR" sz="2300" dirty="0">
                <a:latin typeface="Pretendard Regular" panose="020B0600000101010101" charset="-127"/>
                <a:ea typeface="Pretendard Regular" panose="020B0600000101010101" charset="-127"/>
              </a:rPr>
              <a:t>내의</a:t>
            </a:r>
            <a:r>
              <a:rPr lang="en-US" altLang="ko-KR" sz="2300" dirty="0">
                <a:latin typeface="Pretendard Regular" panose="020B0600000101010101" charset="-127"/>
                <a:ea typeface="Pretendard Regular" panose="020B0600000101010101" charset="-127"/>
              </a:rPr>
              <a:t> SEOUL_DISTRICTS</a:t>
            </a:r>
            <a:r>
              <a:rPr lang="ko-KR" altLang="ko-KR" sz="2300" dirty="0">
                <a:latin typeface="Pretendard Regular" panose="020B0600000101010101" charset="-127"/>
                <a:ea typeface="Pretendard Regular" panose="020B0600000101010101" charset="-127"/>
              </a:rPr>
              <a:t>는 서울시</a:t>
            </a:r>
            <a:r>
              <a:rPr lang="en-US" altLang="ko-KR" sz="2300" dirty="0">
                <a:latin typeface="Pretendard Regular" panose="020B0600000101010101" charset="-127"/>
                <a:ea typeface="Pretendard Regular" panose="020B0600000101010101" charset="-127"/>
              </a:rPr>
              <a:t> 25</a:t>
            </a:r>
            <a:r>
              <a:rPr lang="ko-KR" altLang="ko-KR" sz="2300" dirty="0">
                <a:latin typeface="Pretendard Regular" panose="020B0600000101010101" charset="-127"/>
                <a:ea typeface="Pretendard Regular" panose="020B0600000101010101" charset="-127"/>
              </a:rPr>
              <a:t>개 구에 대한 정적 데이터베이스 역할을 수행한다</a:t>
            </a:r>
            <a:r>
              <a:rPr lang="en-US" altLang="ko-KR" sz="23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</a:p>
          <a:p>
            <a:pPr marL="285750" indent="-285750" latinLnBrk="1">
              <a:buFont typeface="Arial" panose="020B0604020202020204" pitchFamily="34" charset="0"/>
              <a:buChar char="•"/>
            </a:pPr>
            <a:endParaRPr lang="en-US" altLang="ko-KR" sz="23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endParaRPr lang="en-US" altLang="ko-KR" sz="23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marL="285750" indent="-285750" latinLnBrk="1">
              <a:buFont typeface="Arial" panose="020B0604020202020204" pitchFamily="34" charset="0"/>
              <a:buChar char="•"/>
            </a:pPr>
            <a:endParaRPr lang="en-US" altLang="ko-KR" sz="23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marL="285750" indent="-285750" latinLnBrk="1">
              <a:buFont typeface="Arial" panose="020B0604020202020204" pitchFamily="34" charset="0"/>
              <a:buChar char="•"/>
            </a:pPr>
            <a:endParaRPr lang="en-US" altLang="ko-KR" sz="23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marL="285750" indent="-285750" latinLnBrk="1">
              <a:buFont typeface="Arial" panose="020B0604020202020204" pitchFamily="34" charset="0"/>
              <a:buChar char="•"/>
            </a:pPr>
            <a:endParaRPr lang="en-US" altLang="ko-KR" sz="23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endParaRPr lang="en-US" altLang="ko-KR" sz="23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marL="285750" indent="-285750" latinLnBrk="1">
              <a:buFont typeface="Arial" panose="020B0604020202020204" pitchFamily="34" charset="0"/>
              <a:buChar char="•"/>
            </a:pPr>
            <a:endParaRPr lang="en-US" altLang="ko-KR" sz="23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marL="285750" indent="-285750" latinLnBrk="1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 latinLnBrk="1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 latinLnBrk="1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 latinLnBrk="1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 latinLnBrk="1">
              <a:buFont typeface="Arial" panose="020B0604020202020204" pitchFamily="34" charset="0"/>
              <a:buChar char="•"/>
            </a:pPr>
            <a:endParaRPr lang="ko-KR" altLang="ko-KR" dirty="0"/>
          </a:p>
          <a:p>
            <a:pPr>
              <a:lnSpc>
                <a:spcPct val="128650"/>
              </a:lnSpc>
            </a:pPr>
            <a:endParaRPr lang="en-US" sz="2400" b="0" i="0" u="none" strike="noStrike" dirty="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18A34EF-E0C1-144B-390D-0D02B1E4F194}"/>
              </a:ext>
            </a:extLst>
          </p:cNvPr>
          <p:cNvSpPr txBox="1"/>
          <p:nvPr/>
        </p:nvSpPr>
        <p:spPr>
          <a:xfrm>
            <a:off x="3467100" y="1358900"/>
            <a:ext cx="113538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7000" dirty="0">
                <a:solidFill>
                  <a:srgbClr val="715130"/>
                </a:solidFill>
                <a:latin typeface="esamanru OTF Bold"/>
                <a:ea typeface="esamanru OTF Bold"/>
              </a:rPr>
              <a:t>상세 설계 내용</a:t>
            </a:r>
            <a:endParaRPr lang="ko-KR" sz="7000" b="0" i="0" u="none" strike="noStrike" dirty="0">
              <a:solidFill>
                <a:srgbClr val="715130"/>
              </a:solidFill>
              <a:ea typeface="esamanru OTF Bold"/>
            </a:endParaRPr>
          </a:p>
        </p:txBody>
      </p:sp>
      <p:sp>
        <p:nvSpPr>
          <p:cNvPr id="11" name="TextBox 29">
            <a:extLst>
              <a:ext uri="{FF2B5EF4-FFF2-40B4-BE49-F238E27FC236}">
                <a16:creationId xmlns:a16="http://schemas.microsoft.com/office/drawing/2014/main" id="{701A9064-A477-1705-FE1B-56CEAB84275D}"/>
              </a:ext>
            </a:extLst>
          </p:cNvPr>
          <p:cNvSpPr txBox="1"/>
          <p:nvPr/>
        </p:nvSpPr>
        <p:spPr>
          <a:xfrm>
            <a:off x="5486400" y="2882900"/>
            <a:ext cx="68453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8729"/>
              </a:lnSpc>
            </a:pPr>
            <a:endParaRPr lang="en-US" sz="2400" b="1" i="0" u="none" strike="noStrike" spc="100" dirty="0">
              <a:solidFill>
                <a:srgbClr val="B0966E"/>
              </a:solidFill>
              <a:latin typeface="Pretendard Medium"/>
            </a:endParaRPr>
          </a:p>
        </p:txBody>
      </p:sp>
      <p:pic>
        <p:nvPicPr>
          <p:cNvPr id="14" name="shape1038">
            <a:extLst>
              <a:ext uri="{FF2B5EF4-FFF2-40B4-BE49-F238E27FC236}">
                <a16:creationId xmlns:a16="http://schemas.microsoft.com/office/drawing/2014/main" id="{1F7992E0-959E-4303-0988-497EB801703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86050" y="5684735"/>
            <a:ext cx="9455369" cy="214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948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20490-D569-70BD-1B7B-970A612B9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2403F4D-0A04-5557-2CC4-552A1199F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A4233692-A822-6177-41E8-1211B8773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F849D547-46F4-25A8-66B3-57D52ADC00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C7DAA507-F573-0E1A-6B49-F3C2AB9862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3B52FEEE-1661-D01F-24B3-D2E7046988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3800" y="571500"/>
            <a:ext cx="152400" cy="1524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06FE3C6E-58B6-14CA-1194-7F547E9F70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50" y="806450"/>
            <a:ext cx="16675100" cy="86741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CAD13A6D-1BCA-FE2A-7E5D-C319E8734C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5100" y="2717800"/>
            <a:ext cx="15430500" cy="127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37E611ED-3E8D-6BD3-C59A-BF717F777D2B}"/>
              </a:ext>
            </a:extLst>
          </p:cNvPr>
          <p:cNvSpPr txBox="1"/>
          <p:nvPr/>
        </p:nvSpPr>
        <p:spPr>
          <a:xfrm>
            <a:off x="2744150" y="4064000"/>
            <a:ext cx="12915900" cy="184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28650"/>
              </a:lnSpc>
            </a:pPr>
            <a:endParaRPr lang="en-US" sz="2400" b="0" i="0" u="none" strike="noStrike" dirty="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ED9D9B9-09C8-820F-3D8F-4B25AC23B238}"/>
              </a:ext>
            </a:extLst>
          </p:cNvPr>
          <p:cNvSpPr txBox="1"/>
          <p:nvPr/>
        </p:nvSpPr>
        <p:spPr>
          <a:xfrm>
            <a:off x="2595191" y="5753100"/>
            <a:ext cx="12915900" cy="148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atinLnBrk="1"/>
            <a:r>
              <a:rPr lang="ko-KR" altLang="ko-KR" sz="2400" b="1" dirty="0">
                <a:solidFill>
                  <a:schemeClr val="bg2">
                    <a:lumMod val="50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동적</a:t>
            </a:r>
            <a:r>
              <a:rPr lang="en-US" altLang="ko-KR" sz="2400" b="1" dirty="0">
                <a:solidFill>
                  <a:schemeClr val="bg2">
                    <a:lumMod val="50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 Base Time </a:t>
            </a:r>
            <a:r>
              <a:rPr lang="ko-KR" altLang="ko-KR" sz="2400" b="1" dirty="0">
                <a:solidFill>
                  <a:schemeClr val="bg2">
                    <a:lumMod val="50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동기화 알고리즘</a:t>
            </a:r>
            <a:endParaRPr lang="ko-KR" altLang="ko-KR" sz="2400" dirty="0">
              <a:solidFill>
                <a:schemeClr val="bg2">
                  <a:lumMod val="50000"/>
                </a:schemeClr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기상청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API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는 데이터 종류별로 생성 주기가 다르며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(</a:t>
            </a:r>
            <a:r>
              <a:rPr lang="ko-KR" altLang="ko-KR" sz="2400" dirty="0" err="1">
                <a:latin typeface="Pretendard Regular" panose="020B0600000101010101" charset="-127"/>
                <a:ea typeface="Pretendard Regular" panose="020B0600000101010101" charset="-127"/>
              </a:rPr>
              <a:t>초단기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실황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: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매시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40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분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단기 예보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: 3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시간 간격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),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정해진 시각 이전에 요청할 경우 데이터가 없다는 에러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(NO_DATA)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를 반환한다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이를 해결하기 위해 정교한 시간 계산 알고리즘이 설계되었다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</a:p>
          <a:p>
            <a:pPr latinLnBrk="1"/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정확한 현재 시간 확보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: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서버 시스템의 시간 설정이 잘못되어 있을 가능성을 배제하기 위해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구글 서버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(www.google.com)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에 헤더 요청을 보내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Date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필드를 추출한다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이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UTC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시간에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9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시간을 더하여 정확한 한국 표준시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(KST)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를 도출한다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 </a:t>
            </a:r>
          </a:p>
          <a:p>
            <a:pPr latinLnBrk="1"/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API</a:t>
            </a:r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별</a:t>
            </a:r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 Base Time </a:t>
            </a:r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역산 로직</a:t>
            </a:r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ko-KR" altLang="ko-KR" sz="2400" b="1" dirty="0" err="1">
                <a:latin typeface="Pretendard Regular" panose="020B0600000101010101" charset="-127"/>
                <a:ea typeface="Pretendard Regular" panose="020B0600000101010101" charset="-127"/>
              </a:rPr>
              <a:t>초단기</a:t>
            </a:r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 실황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: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매 시각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40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분에 발표된다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따라서 현재 분이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40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분 미만이면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(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현재 시각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- 1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시간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)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을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Base Time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으로 설정하고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, 40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분 이상이면 현재 시각을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Base Time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으로 설정한다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</a:p>
          <a:p>
            <a:pPr latinLnBrk="1"/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단기 예보 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: 02, 05, 08... (3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시간 간격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)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으로 발표된다</a:t>
            </a:r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. </a:t>
            </a:r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현재 시각보다 이전이면서 가장 가까운 발표 시각을 탐색하는 알고리즘을 적용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한다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안정성을 위해 최신 발표 시각보다 한 단계 더 과거의 데이터를 요청하여 데이터 누락을 방지한다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l">
              <a:lnSpc>
                <a:spcPct val="128650"/>
              </a:lnSpc>
            </a:pPr>
            <a:endParaRPr lang="en-US" sz="2400" b="0" i="0" u="none" strike="noStrike" dirty="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63B509A-784D-C34B-4C3F-EA4914BF7BF7}"/>
              </a:ext>
            </a:extLst>
          </p:cNvPr>
          <p:cNvSpPr txBox="1"/>
          <p:nvPr/>
        </p:nvSpPr>
        <p:spPr>
          <a:xfrm>
            <a:off x="3467100" y="1358900"/>
            <a:ext cx="113538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7000" b="0" i="0" u="none" strike="noStrike" dirty="0">
                <a:solidFill>
                  <a:srgbClr val="715130"/>
                </a:solidFill>
                <a:ea typeface="esamanru OTF Bold"/>
              </a:rPr>
              <a:t>상세 설계 내용</a:t>
            </a:r>
            <a:endParaRPr lang="ko-KR" sz="7000" b="0" i="0" u="none" strike="noStrike" dirty="0">
              <a:solidFill>
                <a:srgbClr val="715130"/>
              </a:solidFill>
              <a:ea typeface="esamanru OTF Bold"/>
            </a:endParaRPr>
          </a:p>
        </p:txBody>
      </p:sp>
      <p:sp>
        <p:nvSpPr>
          <p:cNvPr id="11" name="TextBox 29">
            <a:extLst>
              <a:ext uri="{FF2B5EF4-FFF2-40B4-BE49-F238E27FC236}">
                <a16:creationId xmlns:a16="http://schemas.microsoft.com/office/drawing/2014/main" id="{164D91EB-1BD1-E6EA-8984-8FBF2D5B2620}"/>
              </a:ext>
            </a:extLst>
          </p:cNvPr>
          <p:cNvSpPr txBox="1"/>
          <p:nvPr/>
        </p:nvSpPr>
        <p:spPr>
          <a:xfrm>
            <a:off x="5486400" y="2882900"/>
            <a:ext cx="68453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8729"/>
              </a:lnSpc>
            </a:pPr>
            <a:endParaRPr lang="en-US" sz="2400" b="1" i="0" u="none" strike="noStrike" spc="100" dirty="0">
              <a:solidFill>
                <a:srgbClr val="B0966E"/>
              </a:solidFill>
              <a:latin typeface="Pretendard Medium"/>
            </a:endParaRPr>
          </a:p>
        </p:txBody>
      </p:sp>
    </p:spTree>
    <p:extLst>
      <p:ext uri="{BB962C8B-B14F-4D97-AF65-F5344CB8AC3E}">
        <p14:creationId xmlns:p14="http://schemas.microsoft.com/office/powerpoint/2010/main" val="2099050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EF0F6-B3C6-CF8C-0A3F-2ABE56BC9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C0AE7C7-886B-7C3D-5E39-AC05F9F26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B384ADBD-C2ED-80C6-FE80-2183A743EF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D5D50B0B-BFEF-A0A1-000B-7AE3979FF2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5771C9CE-8B90-5040-77DE-5D332D6C94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F6C1784B-A221-E228-2AC7-CCE8970E2D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3800" y="571500"/>
            <a:ext cx="152400" cy="1524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23164749-38F9-4987-D1F6-B917DC5AB4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50" y="806450"/>
            <a:ext cx="16675100" cy="86741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AA6BF941-6F74-EB41-B3DD-A4BBFC70E6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5100" y="2717800"/>
            <a:ext cx="15430500" cy="127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B6E00653-E0F6-C527-57C6-F2293C1237CF}"/>
              </a:ext>
            </a:extLst>
          </p:cNvPr>
          <p:cNvSpPr txBox="1"/>
          <p:nvPr/>
        </p:nvSpPr>
        <p:spPr>
          <a:xfrm>
            <a:off x="2744150" y="4064000"/>
            <a:ext cx="12915900" cy="184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28650"/>
              </a:lnSpc>
            </a:pPr>
            <a:endParaRPr lang="en-US" sz="2400" b="0" i="0" u="none" strike="noStrike" dirty="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DDE2423-1A7D-D266-5394-081CC84AF033}"/>
              </a:ext>
            </a:extLst>
          </p:cNvPr>
          <p:cNvSpPr txBox="1"/>
          <p:nvPr/>
        </p:nvSpPr>
        <p:spPr>
          <a:xfrm>
            <a:off x="2603737" y="5254447"/>
            <a:ext cx="12915900" cy="148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atinLnBrk="1"/>
            <a:r>
              <a:rPr lang="ko-KR" altLang="ko-KR" sz="2400" b="1" dirty="0">
                <a:solidFill>
                  <a:schemeClr val="bg2">
                    <a:lumMod val="50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지능형 데이터 분석 모델</a:t>
            </a:r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1) Smart Commute (</a:t>
            </a:r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스마트 </a:t>
            </a:r>
            <a:r>
              <a:rPr lang="ko-KR" altLang="ko-KR" sz="2400" b="1" dirty="0" err="1">
                <a:latin typeface="Pretendard Regular" panose="020B0600000101010101" charset="-127"/>
                <a:ea typeface="Pretendard Regular" panose="020B0600000101010101" charset="-127"/>
              </a:rPr>
              <a:t>커뮤트</a:t>
            </a:r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)</a:t>
            </a:r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목적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: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출근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(07~09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시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)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및 퇴근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(17~19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시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)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시간대의 기상 리스크 관리</a:t>
            </a:r>
          </a:p>
          <a:p>
            <a:pPr latinLnBrk="1"/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로직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: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해당 시간대의 강수형태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, 1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시간 강수량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풍속 데이터를 추출한다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강수형태가 비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/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눈이거나 강수확률이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60%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이상인 경우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"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우산 준비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"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경고를 생성한다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풍속이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10m/s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이상일 경우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"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강풍 주의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"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및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"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대중교통 이용 권장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"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메시지를 생성한다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기온이 전일 대비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5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도 이상 차이 날 경우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"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옷차림 주의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"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메시지를 추가한다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</a:p>
          <a:p>
            <a:pPr latinLnBrk="1"/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2) AI </a:t>
            </a:r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라이프스타일 가이드</a:t>
            </a:r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세차 지수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: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향후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3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일간의 강수 확률 합계와 습도 데이터를 분석한다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비 예보가 없고 습도가 낮을수록 높은 점수를 부여한다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빨래 지수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: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일조 시간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(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낮 시간대 구름 양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SKY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코드 역산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)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과 기온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(TMP)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에 가중치를 두어 계산한다</a:t>
            </a:r>
            <a:r>
              <a:rPr lang="en-US" altLang="ko-KR" sz="240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</a:p>
          <a:p>
            <a:pPr latinLnBrk="1"/>
            <a:r>
              <a:rPr lang="ko-KR" altLang="ko-KR" sz="2400">
                <a:latin typeface="Pretendard Regular" panose="020B0600000101010101" charset="-127"/>
                <a:ea typeface="Pretendard Regular" panose="020B0600000101010101" charset="-127"/>
              </a:rPr>
              <a:t>지수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= (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기온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* 0.4) + ((10 - </a:t>
            </a:r>
            <a:r>
              <a:rPr lang="ko-KR" altLang="ko-KR" sz="2400" dirty="0" err="1">
                <a:latin typeface="Pretendard Regular" panose="020B0600000101010101" charset="-127"/>
                <a:ea typeface="Pretendard Regular" panose="020B0600000101010101" charset="-127"/>
              </a:rPr>
              <a:t>구름양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) * 0.5) - (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습도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* 0.1)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와 같은 형태의 가중치 공식이 적용된다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l">
              <a:lnSpc>
                <a:spcPct val="128650"/>
              </a:lnSpc>
            </a:pPr>
            <a:endParaRPr lang="en-US" sz="2400" b="0" i="0" u="none" strike="noStrike" dirty="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0614178-9A48-6CA7-516F-5FBB81D7AF01}"/>
              </a:ext>
            </a:extLst>
          </p:cNvPr>
          <p:cNvSpPr txBox="1"/>
          <p:nvPr/>
        </p:nvSpPr>
        <p:spPr>
          <a:xfrm>
            <a:off x="3467100" y="1358900"/>
            <a:ext cx="113538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7000" dirty="0">
                <a:solidFill>
                  <a:srgbClr val="715130"/>
                </a:solidFill>
                <a:latin typeface="esamanru OTF Bold"/>
                <a:ea typeface="esamanru OTF Bold"/>
              </a:rPr>
              <a:t>상세 설계 내용</a:t>
            </a:r>
            <a:endParaRPr lang="ko-KR" sz="7000" b="0" i="0" u="none" strike="noStrike" dirty="0">
              <a:solidFill>
                <a:srgbClr val="715130"/>
              </a:solidFill>
              <a:ea typeface="esamanru OTF Bold"/>
            </a:endParaRPr>
          </a:p>
        </p:txBody>
      </p:sp>
      <p:sp>
        <p:nvSpPr>
          <p:cNvPr id="11" name="TextBox 29">
            <a:extLst>
              <a:ext uri="{FF2B5EF4-FFF2-40B4-BE49-F238E27FC236}">
                <a16:creationId xmlns:a16="http://schemas.microsoft.com/office/drawing/2014/main" id="{3ED2D656-0973-D418-B210-62B233C43E56}"/>
              </a:ext>
            </a:extLst>
          </p:cNvPr>
          <p:cNvSpPr txBox="1"/>
          <p:nvPr/>
        </p:nvSpPr>
        <p:spPr>
          <a:xfrm>
            <a:off x="5486400" y="2882900"/>
            <a:ext cx="68453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8729"/>
              </a:lnSpc>
            </a:pPr>
            <a:endParaRPr lang="en-US" sz="2400" b="1" i="0" u="none" strike="noStrike" spc="100" dirty="0">
              <a:solidFill>
                <a:srgbClr val="B0966E"/>
              </a:solidFill>
              <a:latin typeface="Pretendard Medium"/>
            </a:endParaRPr>
          </a:p>
        </p:txBody>
      </p:sp>
    </p:spTree>
    <p:extLst>
      <p:ext uri="{BB962C8B-B14F-4D97-AF65-F5344CB8AC3E}">
        <p14:creationId xmlns:p14="http://schemas.microsoft.com/office/powerpoint/2010/main" val="3880287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D2AE6-D41E-8B70-3629-EB737176E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54A4E6B-CEEF-8AFB-2CBC-285F013D6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5DC1A404-6FDC-C367-A372-783ADA229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EBC71092-B6E1-4219-BA6E-06077B3EAE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FC20539D-2234-A3D1-302E-271D311E2A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43BAA1E2-62CC-CB60-D848-6AB2D04428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3800" y="571500"/>
            <a:ext cx="152400" cy="1524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F98DC4CB-3FA7-5B0C-69C7-0DA52DE748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50" y="806450"/>
            <a:ext cx="16675100" cy="86741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3A057510-833C-1167-8E49-47B009AE41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5100" y="2717800"/>
            <a:ext cx="15430500" cy="127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2F119115-B79F-404D-6160-36A9B1B79947}"/>
              </a:ext>
            </a:extLst>
          </p:cNvPr>
          <p:cNvSpPr txBox="1"/>
          <p:nvPr/>
        </p:nvSpPr>
        <p:spPr>
          <a:xfrm>
            <a:off x="2744150" y="4064000"/>
            <a:ext cx="12915900" cy="184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28650"/>
              </a:lnSpc>
            </a:pPr>
            <a:endParaRPr lang="en-US" sz="2400" b="0" i="0" u="none" strike="noStrike" dirty="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09A3F57-4769-1834-8CD7-874027AE2107}"/>
              </a:ext>
            </a:extLst>
          </p:cNvPr>
          <p:cNvSpPr txBox="1"/>
          <p:nvPr/>
        </p:nvSpPr>
        <p:spPr>
          <a:xfrm>
            <a:off x="2603737" y="5254447"/>
            <a:ext cx="12915900" cy="148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atinLnBrk="1"/>
            <a:r>
              <a:rPr lang="ko-KR" altLang="ko-KR" sz="2400" b="1" dirty="0">
                <a:solidFill>
                  <a:schemeClr val="bg2">
                    <a:lumMod val="50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지능형 데이터 분석 모델</a:t>
            </a:r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3) </a:t>
            </a:r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레이더 반사도 분석</a:t>
            </a:r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 (</a:t>
            </a:r>
            <a:r>
              <a:rPr lang="en-US" altLang="ko-KR" sz="2400" b="1" dirty="0" err="1">
                <a:latin typeface="Pretendard Regular" panose="020B0600000101010101" charset="-127"/>
                <a:ea typeface="Pretendard Regular" panose="020B0600000101010101" charset="-127"/>
              </a:rPr>
              <a:t>dBZ</a:t>
            </a:r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) :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기상 레이더 영상에서 특정 좌표의 반사도 값을 추출한다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단위는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en-US" altLang="ko-KR" sz="2400" dirty="0" err="1">
                <a:latin typeface="Pretendard Regular" panose="020B0600000101010101" charset="-127"/>
                <a:ea typeface="Pretendard Regular" panose="020B0600000101010101" charset="-127"/>
              </a:rPr>
              <a:t>dBZ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를 사용한다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분석 기준</a:t>
            </a:r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-&gt; 20 </a:t>
            </a:r>
            <a:r>
              <a:rPr lang="en-US" altLang="ko-KR" sz="2400" dirty="0" err="1">
                <a:latin typeface="Pretendard Regular" panose="020B0600000101010101" charset="-127"/>
                <a:ea typeface="Pretendard Regular" panose="020B0600000101010101" charset="-127"/>
              </a:rPr>
              <a:t>dBZ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미만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: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강수 없음 또는 매우 약한 비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-&gt; 30~40 </a:t>
            </a:r>
            <a:r>
              <a:rPr lang="en-US" altLang="ko-KR" sz="2400" dirty="0" err="1">
                <a:latin typeface="Pretendard Regular" panose="020B0600000101010101" charset="-127"/>
                <a:ea typeface="Pretendard Regular" panose="020B0600000101010101" charset="-127"/>
              </a:rPr>
              <a:t>dBZ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: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보통 비</a:t>
            </a:r>
          </a:p>
          <a:p>
            <a:pPr latinLnBrk="1"/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-&gt; 50 </a:t>
            </a:r>
            <a:r>
              <a:rPr lang="en-US" altLang="ko-KR" sz="2400" dirty="0" err="1">
                <a:latin typeface="Pretendard Regular" panose="020B0600000101010101" charset="-127"/>
                <a:ea typeface="Pretendard Regular" panose="020B0600000101010101" charset="-127"/>
              </a:rPr>
              <a:t>dBZ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이상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: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폭우 또는 우박 가능성 높음</a:t>
            </a:r>
          </a:p>
          <a:p>
            <a:pPr latinLnBrk="1"/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이 수치를 바탕으로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"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현재 강수 강도는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'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보통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'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수준이며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대류형 구름이 발달 중입니다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"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와 같은 멘트를 생성한다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l">
              <a:lnSpc>
                <a:spcPct val="128650"/>
              </a:lnSpc>
            </a:pPr>
            <a:endParaRPr lang="en-US" sz="2400" b="0" i="0" u="none" strike="noStrike" dirty="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7A70BDD-9052-9FD5-49AA-230753929C58}"/>
              </a:ext>
            </a:extLst>
          </p:cNvPr>
          <p:cNvSpPr txBox="1"/>
          <p:nvPr/>
        </p:nvSpPr>
        <p:spPr>
          <a:xfrm>
            <a:off x="3467100" y="1358900"/>
            <a:ext cx="113538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7000" b="0" i="0" u="none" strike="noStrike" dirty="0">
                <a:solidFill>
                  <a:srgbClr val="715130"/>
                </a:solidFill>
                <a:latin typeface="esamanru OTF Bold"/>
                <a:ea typeface="esamanru OTF Bold"/>
              </a:rPr>
              <a:t>상세 설계 내용</a:t>
            </a:r>
            <a:endParaRPr lang="ko-KR" sz="7000" b="0" i="0" u="none" strike="noStrike" dirty="0">
              <a:solidFill>
                <a:srgbClr val="715130"/>
              </a:solidFill>
              <a:ea typeface="esamanru OTF Bold"/>
            </a:endParaRPr>
          </a:p>
        </p:txBody>
      </p:sp>
      <p:sp>
        <p:nvSpPr>
          <p:cNvPr id="11" name="TextBox 29">
            <a:extLst>
              <a:ext uri="{FF2B5EF4-FFF2-40B4-BE49-F238E27FC236}">
                <a16:creationId xmlns:a16="http://schemas.microsoft.com/office/drawing/2014/main" id="{85EEC738-38D3-18B6-89B5-FA23679DE937}"/>
              </a:ext>
            </a:extLst>
          </p:cNvPr>
          <p:cNvSpPr txBox="1"/>
          <p:nvPr/>
        </p:nvSpPr>
        <p:spPr>
          <a:xfrm>
            <a:off x="5486400" y="2882900"/>
            <a:ext cx="68453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8729"/>
              </a:lnSpc>
            </a:pPr>
            <a:endParaRPr lang="en-US" sz="2400" b="1" i="0" u="none" strike="noStrike" spc="100" dirty="0">
              <a:solidFill>
                <a:srgbClr val="B0966E"/>
              </a:solidFill>
              <a:latin typeface="Pretendard Medium"/>
            </a:endParaRPr>
          </a:p>
        </p:txBody>
      </p:sp>
    </p:spTree>
    <p:extLst>
      <p:ext uri="{BB962C8B-B14F-4D97-AF65-F5344CB8AC3E}">
        <p14:creationId xmlns:p14="http://schemas.microsoft.com/office/powerpoint/2010/main" val="1026312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2CC6D-D63B-AE6F-3707-36B23B0F4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2A92293-4144-F585-6806-88BBA2F8B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99EFF1E1-DCB2-ACA7-86D3-E310CF6A0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27AB2DC1-2171-C426-26B8-A93F967ACA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3B121002-8D4F-5CC0-6867-A67A090F77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2A9938F3-28CF-EA8D-08A0-31923AB86A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3800" y="571500"/>
            <a:ext cx="152400" cy="1524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8E4E102E-C73D-3C71-D8B5-D8F25C6917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50" y="806450"/>
            <a:ext cx="16675100" cy="86741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5D93228A-95FF-DDD1-F8EB-1C47D99496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5100" y="2717800"/>
            <a:ext cx="15430500" cy="127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A82BA8D0-759E-A42C-4DF5-5B97E27CBFC2}"/>
              </a:ext>
            </a:extLst>
          </p:cNvPr>
          <p:cNvSpPr txBox="1"/>
          <p:nvPr/>
        </p:nvSpPr>
        <p:spPr>
          <a:xfrm>
            <a:off x="2744150" y="4064000"/>
            <a:ext cx="12915900" cy="184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28650"/>
              </a:lnSpc>
            </a:pPr>
            <a:endParaRPr lang="en-US" sz="2400" b="0" i="0" u="none" strike="noStrike" dirty="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EFAA543-5D87-2018-783E-3DD75656C604}"/>
              </a:ext>
            </a:extLst>
          </p:cNvPr>
          <p:cNvSpPr txBox="1"/>
          <p:nvPr/>
        </p:nvSpPr>
        <p:spPr>
          <a:xfrm>
            <a:off x="1435100" y="5676900"/>
            <a:ext cx="15328900" cy="148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atinLnBrk="1"/>
            <a:r>
              <a:rPr lang="ko-KR" altLang="ko-KR" sz="2400" b="1" dirty="0" err="1">
                <a:solidFill>
                  <a:schemeClr val="bg2">
                    <a:lumMod val="50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벡엔드</a:t>
            </a:r>
            <a:r>
              <a:rPr lang="ko-KR" altLang="ko-KR" sz="2400" b="1" dirty="0">
                <a:solidFill>
                  <a:schemeClr val="bg2">
                    <a:lumMod val="50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 구현</a:t>
            </a:r>
            <a:r>
              <a:rPr lang="en-US" altLang="ko-KR" sz="2400" b="1" dirty="0">
                <a:solidFill>
                  <a:schemeClr val="bg2">
                    <a:lumMod val="50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: API </a:t>
            </a:r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통신 및 데이터 처리</a:t>
            </a:r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 (kma_api.py)</a:t>
            </a:r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marL="342900" indent="-342900" latinLnBrk="1">
              <a:buFontTx/>
              <a:buChar char="-"/>
            </a:pPr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네트워크 통신구현</a:t>
            </a:r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>
              <a:lnSpc>
                <a:spcPct val="128650"/>
              </a:lnSpc>
            </a:pP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requests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로 기상청 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API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를 호출하며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, timeout=5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로 지연 시 에러 처리하고 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SSL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인증 오류는 무시하도록 구현했다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</a:p>
          <a:p>
            <a:pPr>
              <a:lnSpc>
                <a:spcPct val="128650"/>
              </a:lnSpc>
            </a:pPr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marL="342900" indent="-342900" latinLnBrk="1">
              <a:buFontTx/>
              <a:buChar char="-"/>
            </a:pPr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정규 표현식을 이용한 비정형 데이터 파싱</a:t>
            </a:r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기상청의</a:t>
            </a:r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 '</a:t>
            </a:r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기상 </a:t>
            </a:r>
            <a:r>
              <a:rPr lang="ko-KR" altLang="ko-KR" sz="2400" b="1" dirty="0" err="1">
                <a:latin typeface="Pretendard Regular" panose="020B0600000101010101" charset="-127"/>
                <a:ea typeface="Pretendard Regular" panose="020B0600000101010101" charset="-127"/>
              </a:rPr>
              <a:t>통보문</a:t>
            </a:r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'</a:t>
            </a:r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과</a:t>
            </a:r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 '</a:t>
            </a:r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특보 현황</a:t>
            </a:r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' API :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XML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이나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JSON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내부에 긴 텍스트를 구조화된 정보로 변환하기 위해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Python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의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re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모듈을 활용하였다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</a:p>
          <a:p>
            <a:pPr latinLnBrk="1"/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ko-KR" altLang="en-US" sz="2400" b="1" dirty="0">
                <a:latin typeface="Pretendard Regular" panose="020B0600000101010101" charset="-127"/>
                <a:ea typeface="Pretendard Regular" panose="020B0600000101010101" charset="-127"/>
              </a:rPr>
              <a:t>특보 파싱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: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텍스트에서 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'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서울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'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포함 문장을 추출해 주의보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·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경보 리스트를 만든다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</a:p>
          <a:p>
            <a:b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</a:br>
            <a:r>
              <a:rPr lang="ko-KR" altLang="en-US" sz="2400" b="1" dirty="0" err="1">
                <a:latin typeface="Pretendard Regular" panose="020B0600000101010101" charset="-127"/>
                <a:ea typeface="Pretendard Regular" panose="020B0600000101010101" charset="-127"/>
              </a:rPr>
              <a:t>통보문</a:t>
            </a:r>
            <a:r>
              <a:rPr lang="ko-KR" altLang="en-US" sz="2400" b="1" dirty="0">
                <a:latin typeface="Pretendard Regular" panose="020B0600000101010101" charset="-127"/>
                <a:ea typeface="Pretendard Regular" panose="020B0600000101010101" charset="-127"/>
              </a:rPr>
              <a:t> 요약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: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주요 키워드 중심 문장을 선별해 불필요한 문자를 제거한 코멘트를 생성한다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</a:p>
          <a:p>
            <a:pPr latinLnBrk="1"/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l">
              <a:lnSpc>
                <a:spcPct val="128650"/>
              </a:lnSpc>
            </a:pPr>
            <a:endParaRPr lang="en-US" sz="2400" b="0" i="0" u="none" strike="noStrike" dirty="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3421C19-338A-24C8-44C2-B7A8F2010C8C}"/>
              </a:ext>
            </a:extLst>
          </p:cNvPr>
          <p:cNvSpPr txBox="1"/>
          <p:nvPr/>
        </p:nvSpPr>
        <p:spPr>
          <a:xfrm>
            <a:off x="3467100" y="1358900"/>
            <a:ext cx="113538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7000" dirty="0">
                <a:solidFill>
                  <a:srgbClr val="715130"/>
                </a:solidFill>
                <a:latin typeface="esamanru OTF Bold"/>
                <a:ea typeface="esamanru OTF Bold"/>
              </a:rPr>
              <a:t>구현 내용</a:t>
            </a:r>
            <a:endParaRPr lang="ko-KR" sz="7000" b="0" i="0" u="none" strike="noStrike" dirty="0">
              <a:solidFill>
                <a:srgbClr val="715130"/>
              </a:solidFill>
              <a:ea typeface="esamanru OTF Bold"/>
            </a:endParaRPr>
          </a:p>
        </p:txBody>
      </p:sp>
      <p:sp>
        <p:nvSpPr>
          <p:cNvPr id="11" name="TextBox 29">
            <a:extLst>
              <a:ext uri="{FF2B5EF4-FFF2-40B4-BE49-F238E27FC236}">
                <a16:creationId xmlns:a16="http://schemas.microsoft.com/office/drawing/2014/main" id="{826E2D30-5419-B4D8-B806-37A1BCEE4ABF}"/>
              </a:ext>
            </a:extLst>
          </p:cNvPr>
          <p:cNvSpPr txBox="1"/>
          <p:nvPr/>
        </p:nvSpPr>
        <p:spPr>
          <a:xfrm>
            <a:off x="5486400" y="2882900"/>
            <a:ext cx="68453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8729"/>
              </a:lnSpc>
            </a:pPr>
            <a:r>
              <a:rPr lang="ko-KR" altLang="en-US" sz="2400" b="1" spc="100" dirty="0" err="1">
                <a:solidFill>
                  <a:srgbClr val="B0966E"/>
                </a:solidFill>
                <a:latin typeface="Pretendard Medium"/>
              </a:rPr>
              <a:t>벡</a:t>
            </a:r>
            <a:r>
              <a:rPr lang="ko-KR" altLang="en-US" sz="2400" b="1" i="0" u="none" strike="noStrike" spc="100" dirty="0" err="1">
                <a:solidFill>
                  <a:srgbClr val="B0966E"/>
                </a:solidFill>
                <a:latin typeface="Pretendard Medium"/>
              </a:rPr>
              <a:t>엔드</a:t>
            </a:r>
            <a:endParaRPr lang="en-US" sz="2400" b="1" i="0" u="none" strike="noStrike" spc="100" dirty="0">
              <a:solidFill>
                <a:srgbClr val="B0966E"/>
              </a:solidFill>
              <a:latin typeface="Pretendard Medium"/>
            </a:endParaRPr>
          </a:p>
        </p:txBody>
      </p:sp>
    </p:spTree>
    <p:extLst>
      <p:ext uri="{BB962C8B-B14F-4D97-AF65-F5344CB8AC3E}">
        <p14:creationId xmlns:p14="http://schemas.microsoft.com/office/powerpoint/2010/main" val="925466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E0F12-F5A0-8B7B-22C7-A8A7EEA69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942A043-053F-C9EF-811B-5D54B96CD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22178CD7-FCB5-C043-6365-6B27B0B34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824BDC9D-76BF-004E-E75F-6D1AC30727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F6EFCF6E-6F35-DCAD-9D88-05D52E832E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AA9B5469-BDA4-57AF-9F1E-D069372578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3800" y="571500"/>
            <a:ext cx="152400" cy="1524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59715E28-2924-02F0-42E7-61C46AA094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50" y="806450"/>
            <a:ext cx="16675100" cy="86741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01BE1F97-4F35-3AF4-F105-D9CF30C14B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5100" y="2717800"/>
            <a:ext cx="15430500" cy="127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B964A396-7A1A-0126-3CEE-5B354B572397}"/>
              </a:ext>
            </a:extLst>
          </p:cNvPr>
          <p:cNvSpPr txBox="1"/>
          <p:nvPr/>
        </p:nvSpPr>
        <p:spPr>
          <a:xfrm>
            <a:off x="2744150" y="4064000"/>
            <a:ext cx="12915900" cy="184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28650"/>
              </a:lnSpc>
            </a:pPr>
            <a:endParaRPr lang="en-US" sz="2400" b="0" i="0" u="none" strike="noStrike" dirty="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FD1EC00-5B82-3DF7-9429-9D2FFE788C3E}"/>
              </a:ext>
            </a:extLst>
          </p:cNvPr>
          <p:cNvSpPr txBox="1"/>
          <p:nvPr/>
        </p:nvSpPr>
        <p:spPr>
          <a:xfrm>
            <a:off x="1410175" y="5324475"/>
            <a:ext cx="15328900" cy="148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atinLnBrk="1"/>
            <a:r>
              <a:rPr lang="ko-KR" altLang="ko-KR" sz="2400" b="1" dirty="0" err="1">
                <a:solidFill>
                  <a:schemeClr val="bg2">
                    <a:lumMod val="50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프론트엔드</a:t>
            </a:r>
            <a:r>
              <a:rPr lang="ko-KR" altLang="ko-KR" sz="2400" b="1" dirty="0">
                <a:solidFill>
                  <a:schemeClr val="bg2">
                    <a:lumMod val="50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 구현</a:t>
            </a:r>
            <a:r>
              <a:rPr lang="en-US" altLang="ko-KR" sz="2400" b="1" dirty="0">
                <a:solidFill>
                  <a:schemeClr val="bg2">
                    <a:lumMod val="50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: </a:t>
            </a:r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시각화 및 인터랙션</a:t>
            </a:r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 (templates/)</a:t>
            </a:r>
          </a:p>
          <a:p>
            <a:pPr latinLnBrk="1"/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SVG </a:t>
            </a:r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기반 인터랙티브 지도</a:t>
            </a:r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 (index.html)</a:t>
            </a:r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이미지 </a:t>
            </a:r>
            <a:r>
              <a:rPr lang="ko-KR" altLang="en-US" sz="2400" dirty="0" err="1">
                <a:latin typeface="Pretendard Regular" panose="020B0600000101010101" charset="-127"/>
                <a:ea typeface="Pretendard Regular" panose="020B0600000101010101" charset="-127"/>
              </a:rPr>
              <a:t>맵의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 해상도 문제를 해결하기 위해 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SVG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를 사용해 자치구 경계를 정의하고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각 영역을 링크로 연결해 클릭 시 해당 지역 날씨를 조회하도록 구현했다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</a:p>
          <a:p>
            <a:pPr latinLnBrk="1"/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동적 뷰 렌더링</a:t>
            </a:r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 (Jinja2 Template)</a:t>
            </a:r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en-US" altLang="ko-KR" sz="2400" dirty="0" err="1">
                <a:latin typeface="Pretendard Regular" panose="020B0600000101010101" charset="-127"/>
                <a:ea typeface="Pretendard Regular" panose="020B0600000101010101" charset="-127"/>
              </a:rPr>
              <a:t>weather_data.sky_code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값에 따라 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body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클래스가 바뀌며 날씨별 배경 </a:t>
            </a:r>
            <a:r>
              <a:rPr lang="ko-KR" altLang="en-US" sz="2400" dirty="0" err="1">
                <a:latin typeface="Pretendard Regular" panose="020B0600000101010101" charset="-127"/>
                <a:ea typeface="Pretendard Regular" panose="020B0600000101010101" charset="-127"/>
              </a:rPr>
              <a:t>그라디언트가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 적용된다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</a:p>
          <a:p>
            <a:pPr latinLnBrk="1"/>
            <a:endParaRPr lang="en-US" altLang="ko-KR" sz="2400" b="1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레이더 분석 뷰</a:t>
            </a:r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 (radar.html)</a:t>
            </a:r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>
              <a:lnSpc>
                <a:spcPct val="128650"/>
              </a:lnSpc>
            </a:pP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레이더 페이지는 관제실 모티프의 어두운 테마와 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CSS </a:t>
            </a:r>
            <a:r>
              <a:rPr lang="ko-KR" altLang="en-US" sz="2400" dirty="0" err="1">
                <a:latin typeface="Pretendard Regular" panose="020B0600000101010101" charset="-127"/>
                <a:ea typeface="Pretendard Regular" panose="020B0600000101010101" charset="-127"/>
              </a:rPr>
              <a:t>그라디언트로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 반사도 색상 스펙트럼을 구현했다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  <a:endParaRPr lang="en-US" sz="2400" b="0" i="0" u="none" strike="noStrike" dirty="0">
              <a:solidFill>
                <a:srgbClr val="000000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7D3A47D-CCCE-8A55-3303-AC3A41A9F6F9}"/>
              </a:ext>
            </a:extLst>
          </p:cNvPr>
          <p:cNvSpPr txBox="1"/>
          <p:nvPr/>
        </p:nvSpPr>
        <p:spPr>
          <a:xfrm>
            <a:off x="3467100" y="1358900"/>
            <a:ext cx="113538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7000" dirty="0">
                <a:solidFill>
                  <a:srgbClr val="715130"/>
                </a:solidFill>
                <a:latin typeface="esamanru OTF Bold"/>
                <a:ea typeface="esamanru OTF Bold"/>
              </a:rPr>
              <a:t>구현 내용</a:t>
            </a:r>
            <a:endParaRPr lang="ko-KR" sz="7000" b="0" i="0" u="none" strike="noStrike" dirty="0">
              <a:solidFill>
                <a:srgbClr val="715130"/>
              </a:solidFill>
              <a:ea typeface="esamanru OTF Bold"/>
            </a:endParaRPr>
          </a:p>
        </p:txBody>
      </p:sp>
      <p:sp>
        <p:nvSpPr>
          <p:cNvPr id="11" name="TextBox 29">
            <a:extLst>
              <a:ext uri="{FF2B5EF4-FFF2-40B4-BE49-F238E27FC236}">
                <a16:creationId xmlns:a16="http://schemas.microsoft.com/office/drawing/2014/main" id="{C326FAE9-E1A0-BF54-C194-D6B5781521A7}"/>
              </a:ext>
            </a:extLst>
          </p:cNvPr>
          <p:cNvSpPr txBox="1"/>
          <p:nvPr/>
        </p:nvSpPr>
        <p:spPr>
          <a:xfrm>
            <a:off x="5486400" y="2882900"/>
            <a:ext cx="68453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8729"/>
              </a:lnSpc>
            </a:pPr>
            <a:r>
              <a:rPr lang="ko-KR" altLang="en-US" sz="2400" b="1" i="0" u="none" strike="noStrike" spc="100" dirty="0" err="1">
                <a:solidFill>
                  <a:srgbClr val="B0966E"/>
                </a:solidFill>
                <a:latin typeface="Pretendard Medium"/>
              </a:rPr>
              <a:t>프론트엔드</a:t>
            </a:r>
            <a:endParaRPr lang="en-US" sz="2400" b="1" i="0" u="none" strike="noStrike" spc="100" dirty="0">
              <a:solidFill>
                <a:srgbClr val="B0966E"/>
              </a:solidFill>
              <a:latin typeface="Pretendard Medium"/>
            </a:endParaRPr>
          </a:p>
        </p:txBody>
      </p:sp>
    </p:spTree>
    <p:extLst>
      <p:ext uri="{BB962C8B-B14F-4D97-AF65-F5344CB8AC3E}">
        <p14:creationId xmlns:p14="http://schemas.microsoft.com/office/powerpoint/2010/main" val="1014947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2AF29-3FC7-B4E5-9D72-C0CC5545B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C15CC82-48F9-BA1B-67FC-01D10BA8C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E20C2EC-1CD7-E8CE-5FA0-65847DD32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987A8B77-76A7-D1D9-391B-0BC5A6BEB4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4CD549F3-4E80-51AA-5B21-F337C1F6DF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671AD96D-A889-0B1C-8D9B-C9A790C08C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3800" y="571500"/>
            <a:ext cx="152400" cy="1524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E459B2D0-C5B9-A399-9B87-8DA922592A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50" y="806450"/>
            <a:ext cx="16675100" cy="86741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D27CEAE7-6714-E32F-3D18-FC03FC2495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5100" y="2717800"/>
            <a:ext cx="15430500" cy="127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FD12DBFC-EAB4-F929-8822-A3C53DCD5EC8}"/>
              </a:ext>
            </a:extLst>
          </p:cNvPr>
          <p:cNvSpPr txBox="1"/>
          <p:nvPr/>
        </p:nvSpPr>
        <p:spPr>
          <a:xfrm>
            <a:off x="2744150" y="4064000"/>
            <a:ext cx="12915900" cy="184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28650"/>
              </a:lnSpc>
            </a:pPr>
            <a:endParaRPr lang="en-US" sz="2400" b="0" i="0" u="none" strike="noStrike" dirty="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2B2AD88-034A-6D08-C5FA-A974AC62D487}"/>
              </a:ext>
            </a:extLst>
          </p:cNvPr>
          <p:cNvSpPr txBox="1"/>
          <p:nvPr/>
        </p:nvSpPr>
        <p:spPr>
          <a:xfrm>
            <a:off x="1435100" y="5763426"/>
            <a:ext cx="15328900" cy="148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atinLnBrk="1"/>
            <a:r>
              <a:rPr lang="en-US" altLang="ko-KR" sz="2400" dirty="0">
                <a:solidFill>
                  <a:schemeClr val="bg2">
                    <a:lumMod val="50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1. </a:t>
            </a:r>
            <a:r>
              <a:rPr lang="en-US" altLang="ko-KR" sz="2400" b="1" dirty="0">
                <a:solidFill>
                  <a:schemeClr val="bg2">
                    <a:lumMod val="50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API </a:t>
            </a:r>
            <a:r>
              <a:rPr lang="ko-KR" altLang="ko-KR" sz="2400" b="1" dirty="0">
                <a:solidFill>
                  <a:schemeClr val="bg2">
                    <a:lumMod val="50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호출 실패 및 지연</a:t>
            </a:r>
            <a:endParaRPr lang="en-US" altLang="ko-KR" sz="2400" b="1" dirty="0">
              <a:solidFill>
                <a:schemeClr val="bg2">
                  <a:lumMod val="50000"/>
                </a:schemeClr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endParaRPr lang="ko-KR" altLang="ko-KR" sz="2400" dirty="0">
              <a:solidFill>
                <a:schemeClr val="bg2">
                  <a:lumMod val="50000"/>
                </a:schemeClr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marL="342900" indent="-342900" latinLnBrk="1">
              <a:buFont typeface="Symbol" panose="05050102010706020507" pitchFamily="18" charset="2"/>
              <a:buChar char="Þ"/>
            </a:pP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모든 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API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요청에 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5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초의 타임아웃 설정 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+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홈으로 돌아가기 버튼</a:t>
            </a:r>
            <a:endParaRPr lang="en-US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marL="342900" indent="-342900" latinLnBrk="1">
              <a:buFont typeface="Symbol" panose="05050102010706020507" pitchFamily="18" charset="2"/>
              <a:buChar char="Þ"/>
            </a:pPr>
            <a:endParaRPr lang="en-US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en-US" altLang="ko-KR" sz="2400" b="1" dirty="0">
                <a:solidFill>
                  <a:schemeClr val="bg2">
                    <a:lumMod val="50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2.API </a:t>
            </a:r>
            <a:r>
              <a:rPr lang="ko-KR" altLang="ko-KR" sz="2400" b="1" dirty="0">
                <a:solidFill>
                  <a:schemeClr val="bg2">
                    <a:lumMod val="50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규격 변경 가능성</a:t>
            </a:r>
            <a:endParaRPr lang="en-US" altLang="ko-KR" sz="2400" b="1" dirty="0">
              <a:solidFill>
                <a:schemeClr val="bg2">
                  <a:lumMod val="50000"/>
                </a:schemeClr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marL="342900" indent="-342900" latinLnBrk="1">
              <a:buFont typeface="Symbol" panose="05050102010706020507" pitchFamily="18" charset="2"/>
              <a:buChar char="Þ"/>
            </a:pP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API </a:t>
            </a:r>
            <a:r>
              <a:rPr lang="en-US" altLang="ko-KR" sz="2400" dirty="0" err="1">
                <a:latin typeface="Pretendard Regular" panose="020B0600000101010101" charset="-127"/>
                <a:ea typeface="Pretendard Regular" panose="020B0600000101010101" charset="-127"/>
              </a:rPr>
              <a:t>URL·Service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Key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를 설정 파일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/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환경 변수로 분리해 유연 대응</a:t>
            </a:r>
            <a:endParaRPr lang="en-US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marL="342900" indent="-342900" latinLnBrk="1">
              <a:buFont typeface="Symbol" panose="05050102010706020507" pitchFamily="18" charset="2"/>
              <a:buChar char="Þ"/>
            </a:pPr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en-US" altLang="ko-KR" sz="2400" b="1" dirty="0">
                <a:solidFill>
                  <a:schemeClr val="bg2">
                    <a:lumMod val="50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3.HTTPS/SSL </a:t>
            </a:r>
            <a:r>
              <a:rPr lang="ko-KR" altLang="ko-KR" sz="2400" b="1" dirty="0">
                <a:solidFill>
                  <a:schemeClr val="bg2">
                    <a:lumMod val="50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인증서 문제</a:t>
            </a:r>
            <a:endParaRPr lang="en-US" altLang="ko-KR" sz="2400" b="1" dirty="0">
              <a:solidFill>
                <a:schemeClr val="bg2">
                  <a:lumMod val="50000"/>
                </a:schemeClr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=&gt; requests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에 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verify=False </a:t>
            </a:r>
            <a:r>
              <a:rPr lang="ko-KR" altLang="en-US" sz="2400" dirty="0">
                <a:latin typeface="Pretendard Regular" panose="020B0600000101010101" charset="-127"/>
                <a:ea typeface="Pretendard Regular" panose="020B0600000101010101" charset="-127"/>
              </a:rPr>
              <a:t>적용해 인증서 오류 무시 및 안정적 통신</a:t>
            </a:r>
            <a:endParaRPr lang="en-US" altLang="ko-KR" sz="2400" dirty="0">
              <a:solidFill>
                <a:srgbClr val="000000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marL="342900" indent="-342900" latinLnBrk="1">
              <a:buFont typeface="Symbol" panose="05050102010706020507" pitchFamily="18" charset="2"/>
              <a:buChar char="Þ"/>
            </a:pPr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l">
              <a:lnSpc>
                <a:spcPct val="128650"/>
              </a:lnSpc>
            </a:pPr>
            <a:endParaRPr lang="en-US" sz="2400" b="0" i="0" u="none" strike="noStrike" dirty="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520CB16-D421-B000-98C7-93582CC7D184}"/>
              </a:ext>
            </a:extLst>
          </p:cNvPr>
          <p:cNvSpPr txBox="1"/>
          <p:nvPr/>
        </p:nvSpPr>
        <p:spPr>
          <a:xfrm>
            <a:off x="3467100" y="1358900"/>
            <a:ext cx="113538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7000" dirty="0">
                <a:solidFill>
                  <a:srgbClr val="715130"/>
                </a:solidFill>
                <a:latin typeface="esamanru OTF Bold"/>
                <a:ea typeface="esamanru OTF Bold"/>
              </a:rPr>
              <a:t>위험 요소 관리 및 해결 방안</a:t>
            </a:r>
            <a:endParaRPr lang="ko-KR" sz="7000" b="0" i="0" u="none" strike="noStrike" dirty="0">
              <a:solidFill>
                <a:srgbClr val="715130"/>
              </a:solidFill>
              <a:ea typeface="esamanru OTF Bold"/>
            </a:endParaRPr>
          </a:p>
        </p:txBody>
      </p:sp>
      <p:sp>
        <p:nvSpPr>
          <p:cNvPr id="11" name="TextBox 29">
            <a:extLst>
              <a:ext uri="{FF2B5EF4-FFF2-40B4-BE49-F238E27FC236}">
                <a16:creationId xmlns:a16="http://schemas.microsoft.com/office/drawing/2014/main" id="{CA937C82-F1F2-4612-2038-224E138128DD}"/>
              </a:ext>
            </a:extLst>
          </p:cNvPr>
          <p:cNvSpPr txBox="1"/>
          <p:nvPr/>
        </p:nvSpPr>
        <p:spPr>
          <a:xfrm>
            <a:off x="5486400" y="2882900"/>
            <a:ext cx="68453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8729"/>
              </a:lnSpc>
            </a:pPr>
            <a:endParaRPr lang="en-US" sz="2400" b="1" i="0" u="none" strike="noStrike" spc="100" dirty="0">
              <a:solidFill>
                <a:srgbClr val="B0966E"/>
              </a:solidFill>
              <a:latin typeface="Pretendard Medium"/>
            </a:endParaRPr>
          </a:p>
        </p:txBody>
      </p:sp>
    </p:spTree>
    <p:extLst>
      <p:ext uri="{BB962C8B-B14F-4D97-AF65-F5344CB8AC3E}">
        <p14:creationId xmlns:p14="http://schemas.microsoft.com/office/powerpoint/2010/main" val="1624571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B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3800" y="571500"/>
            <a:ext cx="152400" cy="152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800" y="825500"/>
            <a:ext cx="16675100" cy="8674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94904" y="3644900"/>
            <a:ext cx="5120516" cy="4534493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35100" y="2717800"/>
            <a:ext cx="15430500" cy="12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524000" y="5848563"/>
            <a:ext cx="6515100" cy="294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atinLnBrk="1"/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우측 상단</a:t>
            </a:r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 (</a:t>
            </a:r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현재 날씨 카드</a:t>
            </a:r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, Smart Commute) :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현재 기온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하늘 상태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습도 등이 표시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 Smart Commute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기능은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09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시와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18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시기준으로 날씨가 날씨 위험도를 알려준다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</a:p>
          <a:p>
            <a:pPr latinLnBrk="1"/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우측 하단</a:t>
            </a:r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 (</a:t>
            </a:r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향후</a:t>
            </a:r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 6</a:t>
            </a:r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시간 기온 흐름</a:t>
            </a:r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, AI</a:t>
            </a:r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라이프 스타일가이드</a:t>
            </a:r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) :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향후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6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시간의 기온이 표시되며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빨래 및 세차 가능 여부를 점수로 확인 가능하다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날씨 변화에 따른 시간별 추천 옷차림을 확인할 수 있다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524000" y="3644900"/>
            <a:ext cx="7239001" cy="1447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atinLnBrk="1"/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좌측</a:t>
            </a:r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 (SVG </a:t>
            </a:r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지도</a:t>
            </a:r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) :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서울시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25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개 자치구 지도가 표시</a:t>
            </a:r>
            <a:endParaRPr lang="en-US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사용법</a:t>
            </a:r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 :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원하는 자치구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(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종로구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강남구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)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를 </a:t>
            </a:r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클릭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하면 페이지 이동 없이 즉시 해당 지역 날씨로 업데이트된다</a:t>
            </a:r>
            <a:r>
              <a:rPr lang="en-US" altLang="ko-KR" sz="2400" dirty="0"/>
              <a:t>.</a:t>
            </a:r>
            <a:endParaRPr lang="ko-KR" altLang="ko-KR" sz="2400" dirty="0"/>
          </a:p>
        </p:txBody>
      </p:sp>
      <p:sp>
        <p:nvSpPr>
          <p:cNvPr id="13" name="TextBox 13"/>
          <p:cNvSpPr txBox="1"/>
          <p:nvPr/>
        </p:nvSpPr>
        <p:spPr>
          <a:xfrm>
            <a:off x="4356100" y="1358900"/>
            <a:ext cx="95631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7000" dirty="0">
                <a:solidFill>
                  <a:srgbClr val="715130"/>
                </a:solidFill>
                <a:ea typeface="esamanru OTF Bold"/>
              </a:rPr>
              <a:t>사용법</a:t>
            </a:r>
            <a:endParaRPr lang="ko-KR" sz="7000" b="0" i="0" u="none" strike="noStrike" dirty="0">
              <a:solidFill>
                <a:srgbClr val="715130"/>
              </a:solidFill>
              <a:ea typeface="esamanru OTF Bold"/>
            </a:endParaRPr>
          </a:p>
        </p:txBody>
      </p:sp>
      <p:pic>
        <p:nvPicPr>
          <p:cNvPr id="15" name="Picture 8">
            <a:extLst>
              <a:ext uri="{FF2B5EF4-FFF2-40B4-BE49-F238E27FC236}">
                <a16:creationId xmlns:a16="http://schemas.microsoft.com/office/drawing/2014/main" id="{9FEE1E78-6665-8CDF-E100-5091F8AE11D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566115" y="3644900"/>
            <a:ext cx="3838499" cy="4636092"/>
          </a:xfrm>
          <a:prstGeom prst="rect">
            <a:avLst/>
          </a:prstGeom>
        </p:spPr>
      </p:pic>
      <p:sp>
        <p:nvSpPr>
          <p:cNvPr id="17" name="TextBox 29">
            <a:extLst>
              <a:ext uri="{FF2B5EF4-FFF2-40B4-BE49-F238E27FC236}">
                <a16:creationId xmlns:a16="http://schemas.microsoft.com/office/drawing/2014/main" id="{6951267F-48E7-BEAD-D6D9-F071A10AC583}"/>
              </a:ext>
            </a:extLst>
          </p:cNvPr>
          <p:cNvSpPr txBox="1"/>
          <p:nvPr/>
        </p:nvSpPr>
        <p:spPr>
          <a:xfrm>
            <a:off x="5727700" y="2832100"/>
            <a:ext cx="68453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8729"/>
              </a:lnSpc>
            </a:pPr>
            <a:r>
              <a:rPr lang="ko-KR" altLang="en-US" sz="2400" b="1" i="0" u="none" strike="noStrike" spc="100" dirty="0">
                <a:solidFill>
                  <a:srgbClr val="B0966E"/>
                </a:solidFill>
                <a:latin typeface="Pretendard Medium"/>
              </a:rPr>
              <a:t>홈 화면</a:t>
            </a:r>
            <a:endParaRPr lang="en-US" altLang="ko-KR" sz="2400" b="1" i="0" u="none" strike="noStrike" spc="100" dirty="0">
              <a:solidFill>
                <a:srgbClr val="B0966E"/>
              </a:solidFill>
              <a:latin typeface="Pretendard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C78A4-5DE1-8263-E94E-FB350E577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C636533-2778-9917-DBA9-712F3F1A3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46C013D4-B643-95D4-4F3D-506B3FC84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E9C335D5-7B7D-4AD3-5D66-90A6CCF915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C2250D71-643B-98D0-3676-B113B04184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44C8E82D-D476-3D12-D522-A2E7472455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3800" y="571500"/>
            <a:ext cx="152400" cy="1524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0A31F01B-0B20-1D1E-4B91-85CAB03C53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800" y="806450"/>
            <a:ext cx="16675100" cy="86741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BFFC9E96-8EAB-99D9-6208-FBC9ACDDC2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5100" y="2717800"/>
            <a:ext cx="15430500" cy="12700"/>
          </a:xfrm>
          <a:prstGeom prst="rect">
            <a:avLst/>
          </a:prstGeom>
        </p:spPr>
      </p:pic>
      <p:sp>
        <p:nvSpPr>
          <p:cNvPr id="12" name="TextBox 12">
            <a:extLst>
              <a:ext uri="{FF2B5EF4-FFF2-40B4-BE49-F238E27FC236}">
                <a16:creationId xmlns:a16="http://schemas.microsoft.com/office/drawing/2014/main" id="{4DF45D90-CE2C-40DA-4DC4-F0419C8C1E06}"/>
              </a:ext>
            </a:extLst>
          </p:cNvPr>
          <p:cNvSpPr txBox="1"/>
          <p:nvPr/>
        </p:nvSpPr>
        <p:spPr>
          <a:xfrm>
            <a:off x="1555749" y="4341759"/>
            <a:ext cx="7239001" cy="1447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atinLnBrk="1"/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상단 내비게이션 바에서 </a:t>
            </a:r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'</a:t>
            </a:r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상세 예보</a:t>
            </a:r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'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클릭</a:t>
            </a:r>
          </a:p>
          <a:p>
            <a:pPr latinLnBrk="1"/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상세 예보 분석 </a:t>
            </a:r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: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향후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12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시간 동안의 기온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강수확률 변화를 표 형태로 정밀하게 확인 가능하다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</a:p>
          <a:p>
            <a:pPr marL="342900" indent="-342900" latinLnBrk="1">
              <a:buFontTx/>
              <a:buChar char="-"/>
            </a:pPr>
            <a:endParaRPr lang="en-US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주간 예보</a:t>
            </a:r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 :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스크롤을 내려 일주일간의 장기 예보 추이를 그래프로 확인 가능하다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marL="342900" indent="-342900" latinLnBrk="1">
              <a:buFontTx/>
              <a:buChar char="-"/>
            </a:pPr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BEB7EFE-0EEC-E9AE-3504-AB61B18694EF}"/>
              </a:ext>
            </a:extLst>
          </p:cNvPr>
          <p:cNvSpPr txBox="1"/>
          <p:nvPr/>
        </p:nvSpPr>
        <p:spPr>
          <a:xfrm>
            <a:off x="4356100" y="1358900"/>
            <a:ext cx="95631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7000" dirty="0">
                <a:solidFill>
                  <a:srgbClr val="715130"/>
                </a:solidFill>
                <a:ea typeface="esamanru OTF Bold"/>
              </a:rPr>
              <a:t>사용법</a:t>
            </a:r>
            <a:endParaRPr lang="ko-KR" sz="7000" b="0" i="0" u="none" strike="noStrike" dirty="0">
              <a:solidFill>
                <a:srgbClr val="715130"/>
              </a:solidFill>
              <a:ea typeface="esamanru OTF Bold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EA064D3-846A-CCE2-78F0-F5084180E285}"/>
              </a:ext>
            </a:extLst>
          </p:cNvPr>
          <p:cNvSpPr txBox="1"/>
          <p:nvPr/>
        </p:nvSpPr>
        <p:spPr>
          <a:xfrm>
            <a:off x="10350500" y="1041400"/>
            <a:ext cx="68453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08729"/>
              </a:lnSpc>
            </a:pPr>
            <a:endParaRPr lang="en-US" sz="1600" b="0" i="0" u="none" strike="noStrike" spc="100" dirty="0">
              <a:solidFill>
                <a:srgbClr val="B0966E"/>
              </a:solidFill>
              <a:latin typeface="Pretendard Medium"/>
            </a:endParaRPr>
          </a:p>
        </p:txBody>
      </p:sp>
      <p:sp>
        <p:nvSpPr>
          <p:cNvPr id="17" name="TextBox 29">
            <a:extLst>
              <a:ext uri="{FF2B5EF4-FFF2-40B4-BE49-F238E27FC236}">
                <a16:creationId xmlns:a16="http://schemas.microsoft.com/office/drawing/2014/main" id="{E34DC040-D068-CF70-1C92-CB7DA06376EE}"/>
              </a:ext>
            </a:extLst>
          </p:cNvPr>
          <p:cNvSpPr txBox="1"/>
          <p:nvPr/>
        </p:nvSpPr>
        <p:spPr>
          <a:xfrm>
            <a:off x="5727700" y="2829031"/>
            <a:ext cx="68453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8729"/>
              </a:lnSpc>
            </a:pPr>
            <a:r>
              <a:rPr lang="ko-KR" altLang="en-US" sz="2400" b="1" i="0" u="none" strike="noStrike" spc="100" dirty="0">
                <a:solidFill>
                  <a:srgbClr val="B0966E"/>
                </a:solidFill>
                <a:latin typeface="Pretendard Medium"/>
              </a:rPr>
              <a:t>상세 예보</a:t>
            </a:r>
            <a:endParaRPr lang="en-US" altLang="ko-KR" sz="2400" b="1" i="0" u="none" strike="noStrike" spc="100" dirty="0">
              <a:solidFill>
                <a:srgbClr val="B0966E"/>
              </a:solidFill>
              <a:latin typeface="Pretendard Medium"/>
            </a:endParaRPr>
          </a:p>
        </p:txBody>
      </p:sp>
      <p:pic>
        <p:nvPicPr>
          <p:cNvPr id="9" name="shape1027">
            <a:extLst>
              <a:ext uri="{FF2B5EF4-FFF2-40B4-BE49-F238E27FC236}">
                <a16:creationId xmlns:a16="http://schemas.microsoft.com/office/drawing/2014/main" id="{4F392137-38DB-AB9E-94DA-81BFF6358F6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940482" y="3282297"/>
            <a:ext cx="7817673" cy="527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2147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EF4E0-0A98-A224-7060-A88F45682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>
            <a:extLst>
              <a:ext uri="{FF2B5EF4-FFF2-40B4-BE49-F238E27FC236}">
                <a16:creationId xmlns:a16="http://schemas.microsoft.com/office/drawing/2014/main" id="{41B8AC8F-A7B0-D959-D3FC-5CC529CC4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100" y="2717800"/>
            <a:ext cx="15430500" cy="12700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8047AF64-D422-368A-D432-A20BAE484959}"/>
              </a:ext>
            </a:extLst>
          </p:cNvPr>
          <p:cNvSpPr txBox="1"/>
          <p:nvPr/>
        </p:nvSpPr>
        <p:spPr>
          <a:xfrm>
            <a:off x="2006600" y="5848563"/>
            <a:ext cx="6515100" cy="294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atinLnBrk="1"/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9DF7CAA-3152-3ECD-37B9-84E41DBDA9E5}"/>
              </a:ext>
            </a:extLst>
          </p:cNvPr>
          <p:cNvSpPr txBox="1"/>
          <p:nvPr/>
        </p:nvSpPr>
        <p:spPr>
          <a:xfrm>
            <a:off x="2006600" y="3644900"/>
            <a:ext cx="7239000" cy="1447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atinLnBrk="1"/>
            <a:endParaRPr lang="ko-KR" altLang="ko-KR" sz="2400"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D115CD7-53A0-7078-F239-C80E1770E51E}"/>
              </a:ext>
            </a:extLst>
          </p:cNvPr>
          <p:cNvSpPr txBox="1"/>
          <p:nvPr/>
        </p:nvSpPr>
        <p:spPr>
          <a:xfrm>
            <a:off x="4356100" y="1358900"/>
            <a:ext cx="95631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7000" dirty="0">
                <a:solidFill>
                  <a:srgbClr val="715130"/>
                </a:solidFill>
                <a:ea typeface="esamanru OTF Bold"/>
              </a:rPr>
              <a:t>사용법</a:t>
            </a:r>
            <a:endParaRPr lang="ko-KR" sz="7000" b="0" i="0" u="none" strike="noStrike" dirty="0">
              <a:solidFill>
                <a:srgbClr val="715130"/>
              </a:solidFill>
              <a:ea typeface="esamanru OTF Bold"/>
            </a:endParaRPr>
          </a:p>
        </p:txBody>
      </p:sp>
      <p:sp>
        <p:nvSpPr>
          <p:cNvPr id="17" name="TextBox 29">
            <a:extLst>
              <a:ext uri="{FF2B5EF4-FFF2-40B4-BE49-F238E27FC236}">
                <a16:creationId xmlns:a16="http://schemas.microsoft.com/office/drawing/2014/main" id="{07AEDEAD-2D40-3DB0-1C65-8A6A4329DFE2}"/>
              </a:ext>
            </a:extLst>
          </p:cNvPr>
          <p:cNvSpPr txBox="1"/>
          <p:nvPr/>
        </p:nvSpPr>
        <p:spPr>
          <a:xfrm>
            <a:off x="5486400" y="2882900"/>
            <a:ext cx="68453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8729"/>
              </a:lnSpc>
            </a:pPr>
            <a:r>
              <a:rPr lang="ko-KR" altLang="en-US" sz="2400" b="1" i="0" u="none" strike="noStrike" spc="100" dirty="0">
                <a:solidFill>
                  <a:srgbClr val="B0966E"/>
                </a:solidFill>
                <a:latin typeface="Pretendard Medium"/>
              </a:rPr>
              <a:t>상세예보</a:t>
            </a:r>
            <a:endParaRPr lang="en-US" altLang="ko-KR" sz="2400" b="1" i="0" u="none" strike="noStrike" spc="100" dirty="0">
              <a:solidFill>
                <a:srgbClr val="B0966E"/>
              </a:solidFill>
              <a:latin typeface="Pretendard Medium"/>
            </a:endParaRPr>
          </a:p>
        </p:txBody>
      </p:sp>
      <p:pic>
        <p:nvPicPr>
          <p:cNvPr id="16" name="shape1028">
            <a:extLst>
              <a:ext uri="{FF2B5EF4-FFF2-40B4-BE49-F238E27FC236}">
                <a16:creationId xmlns:a16="http://schemas.microsoft.com/office/drawing/2014/main" id="{A6D9D179-76B0-7297-9D86-EDDA13A693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577355"/>
            <a:ext cx="5929192" cy="5376145"/>
          </a:xfrm>
          <a:prstGeom prst="rect">
            <a:avLst/>
          </a:prstGeom>
        </p:spPr>
      </p:pic>
      <p:pic>
        <p:nvPicPr>
          <p:cNvPr id="19" name="그림 18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AF3A0E-EDAD-0C2B-2604-A3CFB1D982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3577355"/>
            <a:ext cx="6425494" cy="5376144"/>
          </a:xfrm>
          <a:prstGeom prst="rect">
            <a:avLst/>
          </a:prstGeom>
        </p:spPr>
      </p:pic>
      <p:pic>
        <p:nvPicPr>
          <p:cNvPr id="21" name="그림 20" descr="텍스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953D7E-8171-C2BA-4397-785337A087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8200" y="3619500"/>
            <a:ext cx="6019800" cy="537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818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5289C-D074-DC10-5EDE-05EA417FC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D6D562E-41C8-3E2F-89B9-7DC2B6599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0A108AC-B32D-3776-BA1A-CE88F92A6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79D6B494-05E8-0470-C6C4-F248B2B62A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C35BCB0A-8B7A-A129-E3FE-3DA5314DF0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AABE92A6-8547-2A5E-606B-2079854848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3800" y="571500"/>
            <a:ext cx="152400" cy="1524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C26483E0-E281-8F41-4F06-DAAB598AA0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800" y="825500"/>
            <a:ext cx="16675100" cy="86741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786971B8-0E22-2455-1E6E-46BAD5AC57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5100" y="2717800"/>
            <a:ext cx="15430500" cy="12700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5D00CB1F-A4C8-F454-AC9C-A2FB87D9A08A}"/>
              </a:ext>
            </a:extLst>
          </p:cNvPr>
          <p:cNvSpPr txBox="1"/>
          <p:nvPr/>
        </p:nvSpPr>
        <p:spPr>
          <a:xfrm>
            <a:off x="1535097" y="5232400"/>
            <a:ext cx="6515100" cy="294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atinLnBrk="1"/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-  </a:t>
            </a:r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우측 패널</a:t>
            </a:r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-&gt;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강수 레이더 영상 옆에 표시되는 텍스트 리포트</a:t>
            </a:r>
          </a:p>
          <a:p>
            <a:pPr latinLnBrk="1"/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-&gt;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현재 지역의 </a:t>
            </a:r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레이더 반사도</a:t>
            </a:r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(</a:t>
            </a:r>
            <a:r>
              <a:rPr lang="en-US" altLang="ko-KR" sz="2400" b="1" dirty="0" err="1">
                <a:latin typeface="Pretendard Regular" panose="020B0600000101010101" charset="-127"/>
                <a:ea typeface="Pretendard Regular" panose="020B0600000101010101" charset="-127"/>
              </a:rPr>
              <a:t>dBZ</a:t>
            </a:r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)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수치와 </a:t>
            </a:r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강수 유형</a:t>
            </a:r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(</a:t>
            </a:r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대류형</a:t>
            </a:r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/</a:t>
            </a:r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층상형</a:t>
            </a:r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)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분석 결과를 확인하여 비의 강도를 파악할 수 있다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27551C8-BE8E-88CD-EB61-71D4B13855F9}"/>
              </a:ext>
            </a:extLst>
          </p:cNvPr>
          <p:cNvSpPr txBox="1"/>
          <p:nvPr/>
        </p:nvSpPr>
        <p:spPr>
          <a:xfrm>
            <a:off x="1555749" y="4181707"/>
            <a:ext cx="7239001" cy="1447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atinLnBrk="1"/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상단 내비게이션 바에서 </a:t>
            </a:r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'</a:t>
            </a:r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기상 영상</a:t>
            </a:r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’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클릭</a:t>
            </a:r>
            <a:endParaRPr lang="en-US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endParaRPr lang="en-US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-  </a:t>
            </a:r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레이더 뷰어</a:t>
            </a:r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 :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실시간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HSR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합성 레이더 영상을 통해 한반도 비구름의 이동을 봅니다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-  </a:t>
            </a:r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강수 레이더와 천리안 위성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두 가지를 볼 수 있다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endParaRPr lang="en-US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F74CFBE-27CC-3874-2999-1188068D0EBC}"/>
              </a:ext>
            </a:extLst>
          </p:cNvPr>
          <p:cNvSpPr txBox="1"/>
          <p:nvPr/>
        </p:nvSpPr>
        <p:spPr>
          <a:xfrm>
            <a:off x="4356100" y="1358900"/>
            <a:ext cx="95631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7000" dirty="0">
                <a:solidFill>
                  <a:srgbClr val="715130"/>
                </a:solidFill>
                <a:ea typeface="esamanru OTF Bold"/>
              </a:rPr>
              <a:t>사용법</a:t>
            </a:r>
            <a:endParaRPr lang="ko-KR" sz="7000" b="0" i="0" u="none" strike="noStrike" dirty="0">
              <a:solidFill>
                <a:srgbClr val="715130"/>
              </a:solidFill>
              <a:ea typeface="esamanru OTF Bold"/>
            </a:endParaRPr>
          </a:p>
        </p:txBody>
      </p:sp>
      <p:sp>
        <p:nvSpPr>
          <p:cNvPr id="17" name="TextBox 29">
            <a:extLst>
              <a:ext uri="{FF2B5EF4-FFF2-40B4-BE49-F238E27FC236}">
                <a16:creationId xmlns:a16="http://schemas.microsoft.com/office/drawing/2014/main" id="{6B75E265-D4DD-B79E-DEBA-838E08F7E9E4}"/>
              </a:ext>
            </a:extLst>
          </p:cNvPr>
          <p:cNvSpPr txBox="1"/>
          <p:nvPr/>
        </p:nvSpPr>
        <p:spPr>
          <a:xfrm>
            <a:off x="5727700" y="2832100"/>
            <a:ext cx="68453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8729"/>
              </a:lnSpc>
            </a:pPr>
            <a:r>
              <a:rPr lang="ko-KR" altLang="en-US" sz="2400" b="1" i="0" u="none" strike="noStrike" spc="100" dirty="0">
                <a:solidFill>
                  <a:srgbClr val="B0966E"/>
                </a:solidFill>
                <a:latin typeface="Pretendard Medium"/>
              </a:rPr>
              <a:t>기상영상</a:t>
            </a:r>
            <a:endParaRPr lang="en-US" altLang="ko-KR" sz="2400" b="1" i="0" u="none" strike="noStrike" spc="100" dirty="0">
              <a:solidFill>
                <a:srgbClr val="B0966E"/>
              </a:solidFill>
              <a:latin typeface="Pretendard Medium"/>
            </a:endParaRPr>
          </a:p>
        </p:txBody>
      </p:sp>
      <p:pic>
        <p:nvPicPr>
          <p:cNvPr id="9" name="shape1031">
            <a:extLst>
              <a:ext uri="{FF2B5EF4-FFF2-40B4-BE49-F238E27FC236}">
                <a16:creationId xmlns:a16="http://schemas.microsoft.com/office/drawing/2014/main" id="{7A0A9E89-8ECB-0458-1ECC-D3265B30975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772494" y="3439290"/>
            <a:ext cx="4497662" cy="4739509"/>
          </a:xfrm>
          <a:prstGeom prst="rect">
            <a:avLst/>
          </a:prstGeom>
        </p:spPr>
      </p:pic>
      <p:pic>
        <p:nvPicPr>
          <p:cNvPr id="16" name="shape1032">
            <a:extLst>
              <a:ext uri="{FF2B5EF4-FFF2-40B4-BE49-F238E27FC236}">
                <a16:creationId xmlns:a16="http://schemas.microsoft.com/office/drawing/2014/main" id="{0B18E3C0-C7F7-DED6-5008-E0D3E77FF4E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88473" y="3439291"/>
            <a:ext cx="4177490" cy="473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0412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453F6-9344-3B2A-DC6D-707AB4FAF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2967282-E56C-9EBD-5CB6-9A3CDABF6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214312CB-2796-27D7-9F0A-13BD445D4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6984431B-C4F7-553F-6FD1-5F092F3339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73887D07-62C6-EFF0-FD8F-7DCDCF8B7D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8349A4BC-EC6D-8671-C241-7DC9F96455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3800" y="571500"/>
            <a:ext cx="152400" cy="1524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243688A2-B132-9E40-D0B6-620672503B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50" y="806450"/>
            <a:ext cx="16675100" cy="86741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01DA2C4B-0686-D763-0807-F74D901981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5100" y="2717800"/>
            <a:ext cx="15430500" cy="127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B1629D98-23C6-01EB-4ECE-38F14D19AE07}"/>
              </a:ext>
            </a:extLst>
          </p:cNvPr>
          <p:cNvSpPr txBox="1"/>
          <p:nvPr/>
        </p:nvSpPr>
        <p:spPr>
          <a:xfrm>
            <a:off x="2895600" y="4699000"/>
            <a:ext cx="12915900" cy="184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28650"/>
              </a:lnSpc>
            </a:pPr>
            <a:r>
              <a:rPr lang="ko-KR" altLang="ko-KR" sz="3000" dirty="0">
                <a:latin typeface="Pretendard Regular" panose="020B0600000101010101" charset="-127"/>
                <a:ea typeface="Pretendard Regular" panose="020B0600000101010101" charset="-127"/>
              </a:rPr>
              <a:t>본 프로젝트는 기상청의 방대한 데이터를 일반 사용자의 눈높이에 맞게 재가공하여 제공하는 데 성공하였다</a:t>
            </a:r>
            <a:r>
              <a:rPr lang="en-US" altLang="ko-KR" sz="3000" dirty="0">
                <a:latin typeface="Pretendard Regular" panose="020B0600000101010101" charset="-127"/>
                <a:ea typeface="Pretendard Regular" panose="020B0600000101010101" charset="-127"/>
              </a:rPr>
              <a:t>. </a:t>
            </a:r>
            <a:r>
              <a:rPr lang="ko-KR" altLang="ko-KR" sz="3000" dirty="0">
                <a:latin typeface="Pretendard Regular" panose="020B0600000101010101" charset="-127"/>
                <a:ea typeface="Pretendard Regular" panose="020B0600000101010101" charset="-127"/>
              </a:rPr>
              <a:t>초기 제안서에서 목표로 했던 기능들을 모두 달성하였고 교수님의 기능 추가의 요구사항을 받아들여</a:t>
            </a:r>
            <a:r>
              <a:rPr lang="en-US" altLang="ko-KR" sz="3000" dirty="0">
                <a:latin typeface="Pretendard Regular" panose="020B0600000101010101" charset="-127"/>
                <a:ea typeface="Pretendard Regular" panose="020B0600000101010101" charset="-127"/>
              </a:rPr>
              <a:t> Smart Commute</a:t>
            </a:r>
            <a:r>
              <a:rPr lang="ko-KR" altLang="ko-KR" sz="3000" dirty="0">
                <a:latin typeface="Pretendard Regular" panose="020B0600000101010101" charset="-127"/>
                <a:ea typeface="Pretendard Regular" panose="020B0600000101010101" charset="-127"/>
              </a:rPr>
              <a:t>와</a:t>
            </a:r>
            <a:r>
              <a:rPr lang="en-US" altLang="ko-KR" sz="3000" dirty="0">
                <a:latin typeface="Pretendard Regular" panose="020B0600000101010101" charset="-127"/>
                <a:ea typeface="Pretendard Regular" panose="020B0600000101010101" charset="-127"/>
              </a:rPr>
              <a:t> AI </a:t>
            </a:r>
            <a:r>
              <a:rPr lang="ko-KR" altLang="ko-KR" sz="3000" dirty="0">
                <a:latin typeface="Pretendard Regular" panose="020B0600000101010101" charset="-127"/>
                <a:ea typeface="Pretendard Regular" panose="020B0600000101010101" charset="-127"/>
              </a:rPr>
              <a:t>라이프스타일 가이드의 기능을 추가적으로 구현하여 서비스의 질적 향상을 이뤄냈다</a:t>
            </a:r>
            <a:r>
              <a:rPr lang="en-US" altLang="ko-KR" sz="3000" dirty="0">
                <a:latin typeface="Pretendard Regular" panose="020B0600000101010101" charset="-127"/>
                <a:ea typeface="Pretendard Regular" panose="020B0600000101010101" charset="-127"/>
              </a:rPr>
              <a:t>. </a:t>
            </a:r>
            <a:r>
              <a:rPr lang="ko-KR" altLang="ko-KR" sz="3000" dirty="0">
                <a:latin typeface="Pretendard Regular" panose="020B0600000101010101" charset="-127"/>
                <a:ea typeface="Pretendard Regular" panose="020B0600000101010101" charset="-127"/>
              </a:rPr>
              <a:t>기술적으로는 외부 라이브러리 의존성을 최소화하면서도</a:t>
            </a:r>
            <a:r>
              <a:rPr lang="en-US" altLang="ko-KR" sz="3000" dirty="0">
                <a:latin typeface="Pretendard Regular" panose="020B0600000101010101" charset="-127"/>
                <a:ea typeface="Pretendard Regular" panose="020B0600000101010101" charset="-127"/>
              </a:rPr>
              <a:t> Flask</a:t>
            </a:r>
            <a:r>
              <a:rPr lang="ko-KR" altLang="ko-KR" sz="3000" dirty="0">
                <a:latin typeface="Pretendard Regular" panose="020B0600000101010101" charset="-127"/>
                <a:ea typeface="Pretendard Regular" panose="020B0600000101010101" charset="-127"/>
              </a:rPr>
              <a:t>의 장점을 극대화하여 </a:t>
            </a:r>
            <a:r>
              <a:rPr lang="ko-KR" altLang="ko-KR" sz="3000" dirty="0" err="1">
                <a:latin typeface="Pretendard Regular" panose="020B0600000101010101" charset="-127"/>
                <a:ea typeface="Pretendard Regular" panose="020B0600000101010101" charset="-127"/>
              </a:rPr>
              <a:t>경량화되고</a:t>
            </a:r>
            <a:r>
              <a:rPr lang="ko-KR" altLang="ko-KR" sz="3000" dirty="0">
                <a:latin typeface="Pretendard Regular" panose="020B0600000101010101" charset="-127"/>
                <a:ea typeface="Pretendard Regular" panose="020B0600000101010101" charset="-127"/>
              </a:rPr>
              <a:t> 빠른 웹 서비스를 구축하였으며</a:t>
            </a:r>
            <a:r>
              <a:rPr lang="en-US" altLang="ko-KR" sz="30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ko-KR" sz="3000" dirty="0">
                <a:latin typeface="Pretendard Regular" panose="020B0600000101010101" charset="-127"/>
                <a:ea typeface="Pretendard Regular" panose="020B0600000101010101" charset="-127"/>
              </a:rPr>
              <a:t>철저한 예외 처리를 통해 안정성을 확보하였다</a:t>
            </a:r>
            <a:r>
              <a:rPr lang="en-US" altLang="ko-KR" sz="30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</a:p>
          <a:p>
            <a:pPr>
              <a:lnSpc>
                <a:spcPct val="128650"/>
              </a:lnSpc>
            </a:pPr>
            <a:endParaRPr lang="en-US" sz="2400" b="0" i="0" u="none" strike="noStrike" dirty="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AA3888A-2CE1-9057-6F2C-8BEBC5CCAE9C}"/>
              </a:ext>
            </a:extLst>
          </p:cNvPr>
          <p:cNvSpPr txBox="1"/>
          <p:nvPr/>
        </p:nvSpPr>
        <p:spPr>
          <a:xfrm>
            <a:off x="2742726" y="6807200"/>
            <a:ext cx="12915900" cy="148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8650"/>
              </a:lnSpc>
            </a:pPr>
            <a:endParaRPr lang="en-US" sz="2400" b="0" i="0" u="none" strike="noStrike" dirty="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AC5BD53-8879-EEA1-A411-4514C8BC2CFA}"/>
              </a:ext>
            </a:extLst>
          </p:cNvPr>
          <p:cNvSpPr txBox="1"/>
          <p:nvPr/>
        </p:nvSpPr>
        <p:spPr>
          <a:xfrm>
            <a:off x="3467100" y="1358900"/>
            <a:ext cx="113538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7000" dirty="0">
                <a:solidFill>
                  <a:srgbClr val="715130"/>
                </a:solidFill>
                <a:latin typeface="esamanru OTF Bold"/>
                <a:ea typeface="esamanru OTF Bold"/>
              </a:rPr>
              <a:t>결론</a:t>
            </a:r>
            <a:endParaRPr lang="ko-KR" sz="7000" b="0" i="0" u="none" strike="noStrike" dirty="0">
              <a:solidFill>
                <a:srgbClr val="715130"/>
              </a:solidFill>
              <a:ea typeface="esamanru OTF Bold"/>
            </a:endParaRPr>
          </a:p>
        </p:txBody>
      </p:sp>
      <p:sp>
        <p:nvSpPr>
          <p:cNvPr id="11" name="TextBox 29">
            <a:extLst>
              <a:ext uri="{FF2B5EF4-FFF2-40B4-BE49-F238E27FC236}">
                <a16:creationId xmlns:a16="http://schemas.microsoft.com/office/drawing/2014/main" id="{D82174FD-1922-A81D-646E-C164E768CCA5}"/>
              </a:ext>
            </a:extLst>
          </p:cNvPr>
          <p:cNvSpPr txBox="1"/>
          <p:nvPr/>
        </p:nvSpPr>
        <p:spPr>
          <a:xfrm>
            <a:off x="5486400" y="2882900"/>
            <a:ext cx="68453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8729"/>
              </a:lnSpc>
            </a:pPr>
            <a:endParaRPr lang="en-US" sz="2400" b="1" i="0" u="none" strike="noStrike" spc="100" dirty="0">
              <a:solidFill>
                <a:srgbClr val="B0966E"/>
              </a:solidFill>
              <a:latin typeface="Pretendard Medium"/>
            </a:endParaRPr>
          </a:p>
        </p:txBody>
      </p:sp>
    </p:spTree>
    <p:extLst>
      <p:ext uri="{BB962C8B-B14F-4D97-AF65-F5344CB8AC3E}">
        <p14:creationId xmlns:p14="http://schemas.microsoft.com/office/powerpoint/2010/main" val="1159772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7CF50-6AE4-C315-0F07-D7A683021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B731681-A3A6-E00B-1546-CD40C1673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EF857C5B-A9F3-AEF9-0FD7-061958DB0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0134A216-7DCF-1F87-F751-016B8B14AE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92FA9A97-CD23-B34F-5744-77979ACD5B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D0AEF87C-F902-5A46-79BE-0BA6A83E09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3800" y="571500"/>
            <a:ext cx="152400" cy="1524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CBAED8FD-1266-1F93-0169-603359E576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50" y="806450"/>
            <a:ext cx="16675100" cy="86741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075AC95D-D60C-717D-7CEB-085C2D0311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5100" y="2717800"/>
            <a:ext cx="15430500" cy="127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E09532E3-5B7C-4D3B-C3BA-A6CEC21B4609}"/>
              </a:ext>
            </a:extLst>
          </p:cNvPr>
          <p:cNvSpPr txBox="1"/>
          <p:nvPr/>
        </p:nvSpPr>
        <p:spPr>
          <a:xfrm>
            <a:off x="3047348" y="5327650"/>
            <a:ext cx="12915900" cy="184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atinLnBrk="1"/>
            <a:r>
              <a:rPr lang="ko-KR" altLang="ko-KR" sz="3000" dirty="0">
                <a:latin typeface="Pretendard Regular" panose="020B0600000101010101" charset="-127"/>
                <a:ea typeface="Pretendard Regular" panose="020B0600000101010101" charset="-127"/>
              </a:rPr>
              <a:t>참고 문헌</a:t>
            </a:r>
            <a:endParaRPr lang="en-US" altLang="ko-KR" sz="30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endParaRPr lang="ko-KR" altLang="ko-KR" sz="30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ko-KR" altLang="ko-KR" sz="3000" dirty="0">
                <a:latin typeface="Pretendard Regular" panose="020B0600000101010101" charset="-127"/>
                <a:ea typeface="Pretendard Regular" panose="020B0600000101010101" charset="-127"/>
              </a:rPr>
              <a:t>기상청 </a:t>
            </a:r>
            <a:r>
              <a:rPr lang="ko-KR" altLang="ko-KR" sz="3000" dirty="0" err="1">
                <a:latin typeface="Pretendard Regular" panose="020B0600000101010101" charset="-127"/>
                <a:ea typeface="Pretendard Regular" panose="020B0600000101010101" charset="-127"/>
              </a:rPr>
              <a:t>공공데이터포털</a:t>
            </a:r>
            <a:r>
              <a:rPr lang="en-US" altLang="ko-KR" sz="3000" dirty="0">
                <a:latin typeface="Pretendard Regular" panose="020B0600000101010101" charset="-127"/>
                <a:ea typeface="Pretendard Regular" panose="020B0600000101010101" charset="-127"/>
              </a:rPr>
              <a:t> : </a:t>
            </a:r>
            <a:r>
              <a:rPr lang="en-US" altLang="ko-KR" sz="3000" u="sng" dirty="0">
                <a:latin typeface="Pretendard Regular" panose="020B0600000101010101" charset="-127"/>
                <a:ea typeface="Pretendard Regular" panose="020B0600000101010101" charset="-127"/>
                <a:hlinkClick r:id="rId8"/>
              </a:rPr>
              <a:t>https://data.kma.go.kr/</a:t>
            </a:r>
            <a:endParaRPr lang="ko-KR" altLang="ko-KR" sz="30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en-US" altLang="ko-KR" sz="3000" dirty="0">
                <a:latin typeface="Pretendard Regular" panose="020B0600000101010101" charset="-127"/>
                <a:ea typeface="Pretendard Regular" panose="020B0600000101010101" charset="-127"/>
              </a:rPr>
              <a:t> =&gt; </a:t>
            </a:r>
            <a:r>
              <a:rPr lang="ko-KR" altLang="ko-KR" sz="3000" dirty="0">
                <a:latin typeface="Pretendard Regular" panose="020B0600000101010101" charset="-127"/>
                <a:ea typeface="Pretendard Regular" panose="020B0600000101010101" charset="-127"/>
              </a:rPr>
              <a:t>현재 </a:t>
            </a:r>
            <a:r>
              <a:rPr lang="ko-KR" altLang="ko-KR" sz="3000" dirty="0" err="1">
                <a:latin typeface="Pretendard Regular" panose="020B0600000101010101" charset="-127"/>
                <a:ea typeface="Pretendard Regular" panose="020B0600000101010101" charset="-127"/>
              </a:rPr>
              <a:t>공공데이터포털</a:t>
            </a:r>
            <a:r>
              <a:rPr lang="ko-KR" altLang="ko-KR" sz="3000" dirty="0">
                <a:latin typeface="Pretendard Regular" panose="020B0600000101010101" charset="-127"/>
                <a:ea typeface="Pretendard Regular" panose="020B0600000101010101" charset="-127"/>
              </a:rPr>
              <a:t> 서비스 장애로 인해 대체 사이트로 프로젝트 수행</a:t>
            </a:r>
            <a:endParaRPr lang="en-US" altLang="ko-KR" sz="30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endParaRPr lang="ko-KR" altLang="ko-KR" sz="30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ko-KR" altLang="ko-KR" sz="3000" dirty="0">
                <a:latin typeface="Pretendard Regular" panose="020B0600000101010101" charset="-127"/>
                <a:ea typeface="Pretendard Regular" panose="020B0600000101010101" charset="-127"/>
              </a:rPr>
              <a:t>기상청 레이더 센터 영상 표출 가이드라인 </a:t>
            </a:r>
            <a:r>
              <a:rPr lang="en-US" altLang="ko-KR" sz="3000" dirty="0">
                <a:latin typeface="Pretendard Regular" panose="020B0600000101010101" charset="-127"/>
                <a:ea typeface="Pretendard Regular" panose="020B0600000101010101" charset="-127"/>
              </a:rPr>
              <a:t>: </a:t>
            </a:r>
            <a:r>
              <a:rPr lang="en-US" altLang="ko-KR" sz="3000" u="sng" dirty="0">
                <a:latin typeface="Pretendard Regular" panose="020B0600000101010101" charset="-127"/>
                <a:ea typeface="Pretendard Regular" panose="020B0600000101010101" charset="-127"/>
                <a:hlinkClick r:id="rId9"/>
              </a:rPr>
              <a:t>https://radar.kma.go.kr/</a:t>
            </a:r>
            <a:endParaRPr lang="en-US" altLang="ko-KR" sz="3000" u="sng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endParaRPr lang="ko-KR" altLang="ko-KR" sz="30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ko-KR" altLang="ko-KR" sz="3000" dirty="0">
                <a:latin typeface="Pretendard Regular" panose="020B0600000101010101" charset="-127"/>
                <a:ea typeface="Pretendard Regular" panose="020B0600000101010101" charset="-127"/>
              </a:rPr>
              <a:t>대체 사이트</a:t>
            </a:r>
            <a:r>
              <a:rPr lang="en-US" altLang="ko-KR" sz="3000" dirty="0">
                <a:latin typeface="Pretendard Regular" panose="020B0600000101010101" charset="-127"/>
                <a:ea typeface="Pretendard Regular" panose="020B0600000101010101" charset="-127"/>
              </a:rPr>
              <a:t> : </a:t>
            </a:r>
            <a:r>
              <a:rPr lang="en-US" altLang="ko-KR" sz="3000" u="sng" dirty="0">
                <a:latin typeface="Pretendard Regular" panose="020B0600000101010101" charset="-127"/>
                <a:ea typeface="Pretendard Regular" panose="020B0600000101010101" charset="-127"/>
                <a:hlinkClick r:id="rId10"/>
              </a:rPr>
              <a:t>https://apihub.kma.go.kr/</a:t>
            </a:r>
            <a:endParaRPr lang="en-US" altLang="ko-KR" sz="3000" u="sng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endParaRPr lang="ko-KR" altLang="ko-KR" sz="30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en-US" altLang="ko-KR" sz="3000" dirty="0">
                <a:latin typeface="Pretendard Regular" panose="020B0600000101010101" charset="-127"/>
                <a:ea typeface="Pretendard Regular" panose="020B0600000101010101" charset="-127"/>
              </a:rPr>
              <a:t>Flask </a:t>
            </a:r>
            <a:r>
              <a:rPr lang="ko-KR" altLang="ko-KR" sz="3000" dirty="0">
                <a:latin typeface="Pretendard Regular" panose="020B0600000101010101" charset="-127"/>
                <a:ea typeface="Pretendard Regular" panose="020B0600000101010101" charset="-127"/>
              </a:rPr>
              <a:t>공식 문서</a:t>
            </a:r>
            <a:r>
              <a:rPr lang="en-US" altLang="ko-KR" sz="3000" dirty="0">
                <a:latin typeface="Pretendard Regular" panose="020B0600000101010101" charset="-127"/>
                <a:ea typeface="Pretendard Regular" panose="020B0600000101010101" charset="-127"/>
              </a:rPr>
              <a:t> : </a:t>
            </a:r>
            <a:r>
              <a:rPr lang="en-US" altLang="ko-KR" sz="3000" u="sng" dirty="0">
                <a:latin typeface="Pretendard Regular" panose="020B0600000101010101" charset="-127"/>
                <a:ea typeface="Pretendard Regular" panose="020B0600000101010101" charset="-127"/>
                <a:hlinkClick r:id="rId11"/>
              </a:rPr>
              <a:t>https://flask.palletsprojects.com/</a:t>
            </a:r>
            <a:endParaRPr lang="en-US" altLang="ko-KR" sz="3000" u="sng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endParaRPr lang="ko-KR" altLang="ko-KR" sz="30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en-US" altLang="ko-KR" sz="3000" dirty="0">
                <a:latin typeface="Pretendard Regular" panose="020B0600000101010101" charset="-127"/>
                <a:ea typeface="Pretendard Regular" panose="020B0600000101010101" charset="-127"/>
              </a:rPr>
              <a:t>Bootstrap </a:t>
            </a:r>
            <a:r>
              <a:rPr lang="ko-KR" altLang="ko-KR" sz="3000" dirty="0">
                <a:latin typeface="Pretendard Regular" panose="020B0600000101010101" charset="-127"/>
                <a:ea typeface="Pretendard Regular" panose="020B0600000101010101" charset="-127"/>
              </a:rPr>
              <a:t>공식 문서</a:t>
            </a:r>
            <a:r>
              <a:rPr lang="en-US" altLang="ko-KR" sz="3000" dirty="0">
                <a:latin typeface="Pretendard Regular" panose="020B0600000101010101" charset="-127"/>
                <a:ea typeface="Pretendard Regular" panose="020B0600000101010101" charset="-127"/>
              </a:rPr>
              <a:t> : </a:t>
            </a:r>
            <a:r>
              <a:rPr lang="en-US" altLang="ko-KR" sz="3000" u="sng" dirty="0">
                <a:latin typeface="Pretendard Regular" panose="020B0600000101010101" charset="-127"/>
                <a:ea typeface="Pretendard Regular" panose="020B0600000101010101" charset="-127"/>
                <a:hlinkClick r:id="rId12"/>
              </a:rPr>
              <a:t>https://getbootstrap.com/</a:t>
            </a:r>
            <a:endParaRPr lang="ko-KR" altLang="ko-KR" sz="30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>
              <a:lnSpc>
                <a:spcPct val="128650"/>
              </a:lnSpc>
            </a:pPr>
            <a:endParaRPr lang="en-US" sz="2400" b="0" i="0" u="none" strike="noStrike" dirty="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78EFE1E-05D9-AFE5-FD04-A200D1DCFEC2}"/>
              </a:ext>
            </a:extLst>
          </p:cNvPr>
          <p:cNvSpPr txBox="1"/>
          <p:nvPr/>
        </p:nvSpPr>
        <p:spPr>
          <a:xfrm>
            <a:off x="2742726" y="6807200"/>
            <a:ext cx="12915900" cy="148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8650"/>
              </a:lnSpc>
            </a:pPr>
            <a:endParaRPr lang="en-US" sz="2400" b="0" i="0" u="none" strike="noStrike" dirty="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6365E88-863C-E3D7-65F4-CD85EC1E17B5}"/>
              </a:ext>
            </a:extLst>
          </p:cNvPr>
          <p:cNvSpPr txBox="1"/>
          <p:nvPr/>
        </p:nvSpPr>
        <p:spPr>
          <a:xfrm>
            <a:off x="3467100" y="1358900"/>
            <a:ext cx="113538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7000" b="0" i="0" u="none" strike="noStrike" dirty="0">
                <a:solidFill>
                  <a:srgbClr val="715130"/>
                </a:solidFill>
                <a:ea typeface="esamanru OTF Bold"/>
              </a:rPr>
              <a:t>참고문헌</a:t>
            </a:r>
            <a:endParaRPr lang="ko-KR" sz="7000" b="0" i="0" u="none" strike="noStrike" dirty="0">
              <a:solidFill>
                <a:srgbClr val="715130"/>
              </a:solidFill>
              <a:ea typeface="esamanru OTF Bold"/>
            </a:endParaRPr>
          </a:p>
        </p:txBody>
      </p:sp>
      <p:sp>
        <p:nvSpPr>
          <p:cNvPr id="11" name="TextBox 29">
            <a:extLst>
              <a:ext uri="{FF2B5EF4-FFF2-40B4-BE49-F238E27FC236}">
                <a16:creationId xmlns:a16="http://schemas.microsoft.com/office/drawing/2014/main" id="{D657E71C-80D7-08B9-3B5A-68CE81C59869}"/>
              </a:ext>
            </a:extLst>
          </p:cNvPr>
          <p:cNvSpPr txBox="1"/>
          <p:nvPr/>
        </p:nvSpPr>
        <p:spPr>
          <a:xfrm>
            <a:off x="5486400" y="2882900"/>
            <a:ext cx="68453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8729"/>
              </a:lnSpc>
            </a:pPr>
            <a:endParaRPr lang="en-US" sz="2400" b="1" i="0" u="none" strike="noStrike" spc="100" dirty="0">
              <a:solidFill>
                <a:srgbClr val="B0966E"/>
              </a:solidFill>
              <a:latin typeface="Pretendard Medium"/>
            </a:endParaRPr>
          </a:p>
        </p:txBody>
      </p:sp>
    </p:spTree>
    <p:extLst>
      <p:ext uri="{BB962C8B-B14F-4D97-AF65-F5344CB8AC3E}">
        <p14:creationId xmlns:p14="http://schemas.microsoft.com/office/powerpoint/2010/main" val="35850770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0D33F-9FE6-BCF8-70C4-D4920D4D4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D9F1D09-6D5D-F0A1-9D31-366664C02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BC6AABF9-1B49-0E7C-DD9B-A1F02F7F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075CB6BB-1160-4853-3975-30C25A12C5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2E755C6F-418D-80E3-41D7-4B3915CE8F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07BB1836-38E9-9928-23D8-A57E0A3F26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3800" y="571500"/>
            <a:ext cx="152400" cy="1524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73C27DD3-D753-5F89-BB8F-2C170A9301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50" y="806450"/>
            <a:ext cx="16675100" cy="86741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1959B77E-4122-80C4-3397-3D17B01551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5100" y="2717800"/>
            <a:ext cx="15430500" cy="127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B44FB966-CA89-45E7-7C3A-A1457D697778}"/>
              </a:ext>
            </a:extLst>
          </p:cNvPr>
          <p:cNvSpPr txBox="1"/>
          <p:nvPr/>
        </p:nvSpPr>
        <p:spPr>
          <a:xfrm>
            <a:off x="3047348" y="5327650"/>
            <a:ext cx="12915900" cy="184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atinLnBrk="1"/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API (Application Programming Interface) :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프로그램들이 서로 소통하기 위한 약속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이 프로젝트에서는 우리 프로그램이 기상청 서버의 데이터를 가져오기 위해 사용하는 통신 규칙</a:t>
            </a:r>
            <a:endParaRPr lang="en-US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Flask :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ko-KR" sz="2400" dirty="0" err="1">
                <a:latin typeface="Pretendard Regular" panose="020B0600000101010101" charset="-127"/>
                <a:ea typeface="Pretendard Regular" panose="020B0600000101010101" charset="-127"/>
              </a:rPr>
              <a:t>파이썬으로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웹 서버를 쉽고 빠르게 만들 수 있게 도와주는 도구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(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웹 프레임워크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)</a:t>
            </a:r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격자 좌표</a:t>
            </a:r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 (NX, NY) :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기상청에서 대한민국 지도를 작은 사각형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(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격자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)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으로 나누어 각 위치에 부여한 고유한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X, Y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좌표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특정 지역의 날씨를 정확히 알기 위해 사용됨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</a:p>
          <a:p>
            <a:pPr latinLnBrk="1"/>
            <a:endParaRPr lang="en-US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HSR (Hybrid Surface Rainfall) :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지형 영향을 최소화하여 정확도를 높인 레이더 합성 영상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</a:p>
          <a:p>
            <a:pPr latinLnBrk="1"/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ko-KR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템플릿 엔진</a:t>
            </a:r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 (Jinja2) :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HTML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문서 안에 데이터가 들어갈 자리를 표시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({{ }})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해두면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ko-KR" sz="2400" dirty="0" err="1">
                <a:latin typeface="Pretendard Regular" panose="020B0600000101010101" charset="-127"/>
                <a:ea typeface="Pretendard Regular" panose="020B0600000101010101" charset="-127"/>
              </a:rPr>
              <a:t>파이썬에서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전달한 실제 데이터를 그 자리에 채워 넣어 동적인 웹 페이지를 만들어주는 기술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</a:p>
          <a:p>
            <a:pPr latinLnBrk="1"/>
            <a:endParaRPr lang="en-US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UI/UX 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: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사용자 인터페이스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(UI)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와 사용자 경험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(UX)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의 약자로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,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사용자가 제품이나 서비스를 이용할 </a:t>
            </a:r>
            <a:r>
              <a:rPr lang="ko-KR" altLang="ko-KR" sz="2400" dirty="0" err="1">
                <a:latin typeface="Pretendard Regular" panose="020B0600000101010101" charset="-127"/>
                <a:ea typeface="Pretendard Regular" panose="020B0600000101010101" charset="-127"/>
              </a:rPr>
              <a:t>때의총체적인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경험을 디자인하는 것을 의미</a:t>
            </a:r>
            <a:endParaRPr lang="en-US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r>
              <a:rPr lang="en-US" altLang="ko-KR" sz="2400" b="1" dirty="0">
                <a:latin typeface="Pretendard Regular" panose="020B0600000101010101" charset="-127"/>
                <a:ea typeface="Pretendard Regular" panose="020B0600000101010101" charset="-127"/>
              </a:rPr>
              <a:t>SVG(Scalable Vector Graphics) 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: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확장 가능한 벡터 그래픽이라는 뜻으로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이미지 크기를 확대하거나 축소해도 깨지지 않고 선명하게 유지되는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XML 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기반의</a:t>
            </a:r>
            <a:r>
              <a:rPr lang="en-US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 2</a:t>
            </a:r>
            <a:r>
              <a:rPr lang="ko-KR" altLang="ko-KR" sz="2400" dirty="0">
                <a:latin typeface="Pretendard Regular" panose="020B0600000101010101" charset="-127"/>
                <a:ea typeface="Pretendard Regular" panose="020B0600000101010101" charset="-127"/>
              </a:rPr>
              <a:t>차원 벡터 이미지 형식</a:t>
            </a:r>
          </a:p>
          <a:p>
            <a:pPr latinLnBrk="1"/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atinLnBrk="1"/>
            <a:endParaRPr lang="ko-KR" altLang="ko-KR" sz="24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pPr>
              <a:lnSpc>
                <a:spcPct val="128650"/>
              </a:lnSpc>
            </a:pPr>
            <a:endParaRPr lang="en-US" sz="2400" b="0" i="0" u="none" strike="noStrike" dirty="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1290383-5476-F2EC-2764-BFCF04DD9DBB}"/>
              </a:ext>
            </a:extLst>
          </p:cNvPr>
          <p:cNvSpPr txBox="1"/>
          <p:nvPr/>
        </p:nvSpPr>
        <p:spPr>
          <a:xfrm>
            <a:off x="2742726" y="6807200"/>
            <a:ext cx="12915900" cy="148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8650"/>
              </a:lnSpc>
            </a:pPr>
            <a:endParaRPr lang="en-US" sz="2400" b="0" i="0" u="none" strike="noStrike" dirty="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9D1641C-B642-1FF2-FDEF-F9FF72882BBF}"/>
              </a:ext>
            </a:extLst>
          </p:cNvPr>
          <p:cNvSpPr txBox="1"/>
          <p:nvPr/>
        </p:nvSpPr>
        <p:spPr>
          <a:xfrm>
            <a:off x="3467100" y="1358900"/>
            <a:ext cx="113538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7000" dirty="0">
                <a:solidFill>
                  <a:srgbClr val="715130"/>
                </a:solidFill>
                <a:ea typeface="esamanru OTF Bold"/>
              </a:rPr>
              <a:t>용어설명</a:t>
            </a:r>
            <a:endParaRPr lang="ko-KR" sz="7000" b="0" i="0" u="none" strike="noStrike" dirty="0">
              <a:solidFill>
                <a:srgbClr val="715130"/>
              </a:solidFill>
              <a:ea typeface="esamanru OTF Bold"/>
            </a:endParaRPr>
          </a:p>
        </p:txBody>
      </p:sp>
      <p:sp>
        <p:nvSpPr>
          <p:cNvPr id="11" name="TextBox 29">
            <a:extLst>
              <a:ext uri="{FF2B5EF4-FFF2-40B4-BE49-F238E27FC236}">
                <a16:creationId xmlns:a16="http://schemas.microsoft.com/office/drawing/2014/main" id="{2A6580C6-F20E-5781-9C91-50421B26004B}"/>
              </a:ext>
            </a:extLst>
          </p:cNvPr>
          <p:cNvSpPr txBox="1"/>
          <p:nvPr/>
        </p:nvSpPr>
        <p:spPr>
          <a:xfrm>
            <a:off x="5486400" y="2882900"/>
            <a:ext cx="68453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8729"/>
              </a:lnSpc>
            </a:pPr>
            <a:endParaRPr lang="en-US" sz="2400" b="1" i="0" u="none" strike="noStrike" spc="100" dirty="0">
              <a:solidFill>
                <a:srgbClr val="B0966E"/>
              </a:solidFill>
              <a:latin typeface="Pretendard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596833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B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3800" y="571500"/>
            <a:ext cx="152400" cy="152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800" y="812800"/>
            <a:ext cx="16675100" cy="8674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5100" y="1879600"/>
            <a:ext cx="15430500" cy="12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4305300" y="2679700"/>
            <a:ext cx="9677400" cy="363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11000" dirty="0">
                <a:solidFill>
                  <a:srgbClr val="715130"/>
                </a:solidFill>
                <a:ea typeface="esamanru OTF Bold"/>
              </a:rPr>
              <a:t>감사합니다</a:t>
            </a:r>
            <a:endParaRPr lang="ko-KR" sz="11000" b="0" i="0" u="none" strike="noStrike" dirty="0">
              <a:solidFill>
                <a:srgbClr val="715130"/>
              </a:solidFill>
              <a:ea typeface="esamanru OTF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906000" y="1409700"/>
            <a:ext cx="68580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08729"/>
              </a:lnSpc>
            </a:pPr>
            <a:r>
              <a:rPr lang="en-US" sz="2000" b="0" i="0" u="none" strike="noStrike" spc="100" dirty="0">
                <a:solidFill>
                  <a:srgbClr val="B0966E"/>
                </a:solidFill>
                <a:latin typeface="Pretendard Medium"/>
              </a:rPr>
              <a:t>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4000" y="1409700"/>
            <a:ext cx="68580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8729"/>
              </a:lnSpc>
            </a:pPr>
            <a:endParaRPr lang="en-US" sz="2000" b="0" i="0" u="none" strike="noStrike" spc="100" dirty="0">
              <a:solidFill>
                <a:srgbClr val="B0966E"/>
              </a:solidFill>
              <a:latin typeface="Pretendard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1901</Words>
  <Application>Microsoft Office PowerPoint</Application>
  <PresentationFormat>사용자 지정</PresentationFormat>
  <Paragraphs>201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32" baseType="lpstr">
      <vt:lpstr>Pretendard ExtraBold</vt:lpstr>
      <vt:lpstr>Pretendard Regular</vt:lpstr>
      <vt:lpstr>Pretendard Bold</vt:lpstr>
      <vt:lpstr>esamanru OTF Medium</vt:lpstr>
      <vt:lpstr>Arial</vt:lpstr>
      <vt:lpstr>Symbol</vt:lpstr>
      <vt:lpstr>Pretendard Medium</vt:lpstr>
      <vt:lpstr>Calibri</vt:lpstr>
      <vt:lpstr>Pretendard SemiBold</vt:lpstr>
      <vt:lpstr>esamanru OTF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최하랑</dc:creator>
  <cp:lastModifiedBy>Seunggyu Lee</cp:lastModifiedBy>
  <cp:revision>8</cp:revision>
  <dcterms:created xsi:type="dcterms:W3CDTF">2006-08-16T00:00:00Z</dcterms:created>
  <dcterms:modified xsi:type="dcterms:W3CDTF">2025-12-02T13:03:13Z</dcterms:modified>
</cp:coreProperties>
</file>